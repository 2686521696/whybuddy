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2807E"/>
            </a:solidFill>
            <a:ln>
              <a:solidFill>
                <a:srgbClr val="12807E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2025年2月</c:v>
                </c:pt>
                <c:pt idx="1">
                  <c:v>2025年3月</c:v>
                </c:pt>
                <c:pt idx="2">
                  <c:v>2025年4月</c:v>
                </c:pt>
                <c:pt idx="3">
                  <c:v>2025年5月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73.8</c:v>
                </c:pt>
                <c:pt idx="1">
                  <c:v>78.6</c:v>
                </c:pt>
                <c:pt idx="2">
                  <c:v>79.85</c:v>
                </c:pt>
                <c:pt idx="3">
                  <c:v>86.4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B1C4C6"/>
            </a:solidFill>
            <a:ln>
              <a:solidFill>
                <a:srgbClr val="B1C4C6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2025年2月</c:v>
                </c:pt>
                <c:pt idx="1">
                  <c:v>2025年3月</c:v>
                </c:pt>
                <c:pt idx="2">
                  <c:v>2025年4月</c:v>
                </c:pt>
                <c:pt idx="3">
                  <c:v>2025年5月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76.0</c:v>
                </c:pt>
                <c:pt idx="1">
                  <c:v>80.0</c:v>
                </c:pt>
                <c:pt idx="2">
                  <c:v>85.0</c:v>
                </c:pt>
                <c:pt idx="3">
                  <c:v>85.0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AE2E4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客流</c:v>
                </c:pt>
              </c:strCache>
            </c:strRef>
          </c:tx>
          <c:spPr>
            <a:solidFill>
              <a:srgbClr val="12807E"/>
            </a:solidFill>
            <a:ln>
              <a:solidFill>
                <a:srgbClr val="12807E"/>
              </a:solidFill>
            </a:ln>
          </c:spPr>
          <c:cat>
            <c:strRef>
              <c:f>Sheet1!$A$2:$A$6</c:f>
              <c:strCache>
                <c:ptCount val="5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2480</c:v>
                </c:pt>
                <c:pt idx="2">
                  <c:v>2520</c:v>
                </c:pt>
                <c:pt idx="3">
                  <c:v>2690</c:v>
                </c:pt>
                <c:pt idx="4">
                  <c:v>2760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E07D41"/>
            </a:solidFill>
            <a:ln w="31750">
              <a:solidFill>
                <a:srgbClr val="E07D41"/>
              </a:solidFill>
            </a:ln>
          </c:spPr>
          <c:cat>
            <c:strRef>
              <c:f>Sheet1!$A$2:$A$6</c:f>
              <c:strCache>
                <c:ptCount val="5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17.8</c:v>
                </c:pt>
                <c:pt idx="1">
                  <c:v>18.2</c:v>
                </c:pt>
                <c:pt idx="2">
                  <c:v>18.5</c:v>
                </c:pt>
                <c:pt idx="3">
                  <c:v>19.0</c:v>
                </c:pt>
                <c:pt idx="4">
                  <c:v>19.5</c:v>
                </c:pt>
              </c:numCache>
            </c:numRef>
          </c:val>
        </c:ser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E07D41"/>
            </a:solidFill>
            <a:ln w="31750">
              <a:solidFill>
                <a:srgbClr val="E07D41"/>
              </a:solidFill>
            </a:ln>
          </c:spPr>
          <c:cat>
            <c:strRef>
              <c:f>Sheet1!$A$2:$A$6</c:f>
              <c:strCache>
                <c:ptCount val="5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17.8</c:v>
                </c:pt>
                <c:pt idx="1">
                  <c:v>18.2</c:v>
                </c:pt>
                <c:pt idx="2">
                  <c:v>18.5</c:v>
                </c:pt>
                <c:pt idx="3">
                  <c:v>19.0</c:v>
                </c:pt>
                <c:pt idx="4">
                  <c:v>19.5</c:v>
                </c:pt>
              </c:numCache>
            </c:numRef>
          </c:val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>
              <a:solidFill>
                <a:srgbClr val="DAE2E4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068027336"/>
        <c:crosses val="autoZero"/>
        <c:majorUnit val="1000.0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食品</c:v>
                </c:pt>
              </c:strCache>
            </c:strRef>
          </c:tx>
          <c:spPr>
            <a:solidFill>
              <a:srgbClr val="12807E"/>
            </a:solidFill>
            <a:ln>
              <a:solidFill>
                <a:srgbClr val="12807E"/>
              </a:solidFill>
            </a:ln>
          </c:spPr>
          <c:cat>
            <c:strRef>
              <c:f>Sheet1!$A$2:$A$4</c:f>
              <c:strCache>
                <c:ptCount val="3"/>
                <c:pt idx="0">
                  <c:v>2025年3月</c:v>
                </c:pt>
                <c:pt idx="1">
                  <c:v>2025年4月</c:v>
                </c:pt>
                <c:pt idx="2">
                  <c:v>2025年5月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8.4</c:v>
                </c:pt>
                <c:pt idx="2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日百</c:v>
                </c:pt>
              </c:strCache>
            </c:strRef>
          </c:tx>
          <c:spPr>
            <a:solidFill>
              <a:srgbClr val="4E9F99"/>
            </a:solidFill>
            <a:ln>
              <a:solidFill>
                <a:srgbClr val="4E9F99"/>
              </a:solidFill>
            </a:ln>
          </c:spPr>
          <c:cat>
            <c:strRef>
              <c:f>Sheet1!$A$2:$A$4</c:f>
              <c:strCache>
                <c:ptCount val="3"/>
                <c:pt idx="0">
                  <c:v>2025年3月</c:v>
                </c:pt>
                <c:pt idx="1">
                  <c:v>2025年4月</c:v>
                </c:pt>
                <c:pt idx="2">
                  <c:v>2025年5月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5.8</c:v>
                </c:pt>
                <c:pt idx="1">
                  <c:v>6.1</c:v>
                </c:pt>
                <c:pt idx="2">
                  <c:v>6.9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家居</c:v>
                </c:pt>
              </c:strCache>
            </c:strRef>
          </c:tx>
          <c:spPr>
            <a:solidFill>
              <a:srgbClr val="80BDB2"/>
            </a:solidFill>
            <a:ln>
              <a:solidFill>
                <a:srgbClr val="80BDB2"/>
              </a:solidFill>
            </a:ln>
          </c:spPr>
          <c:cat>
            <c:strRef>
              <c:f>Sheet1!$A$2:$A$4</c:f>
              <c:strCache>
                <c:ptCount val="3"/>
                <c:pt idx="0">
                  <c:v>2025年3月</c:v>
                </c:pt>
                <c:pt idx="1">
                  <c:v>2025年4月</c:v>
                </c:pt>
                <c:pt idx="2">
                  <c:v>2025年5月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</c:v>
                </c:pt>
                <c:pt idx="1">
                  <c:v>3.9</c:v>
                </c:pt>
                <c:pt idx="2">
                  <c:v>4.8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A7B1B2"/>
            </a:solidFill>
            <a:ln>
              <a:solidFill>
                <a:srgbClr val="A7B1B2"/>
              </a:solidFill>
            </a:ln>
          </c:spPr>
          <c:cat>
            <c:strRef>
              <c:f>Sheet1!$A$2:$A$4</c:f>
              <c:strCache>
                <c:ptCount val="3"/>
                <c:pt idx="0">
                  <c:v>2025年3月</c:v>
                </c:pt>
                <c:pt idx="1">
                  <c:v>2025年4月</c:v>
                </c:pt>
                <c:pt idx="2">
                  <c:v>2025年5月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2.0</c:v>
                </c:pt>
                <c:pt idx="1">
                  <c:v>1.9</c:v>
                </c:pt>
                <c:pt idx="2">
                  <c:v>2.9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>
              <a:solidFill>
                <a:srgbClr val="DAE2E4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B6A6F"/>
                </a:solidFill>
                <a:latin typeface="Microsoft YaHei"/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22191" cy="6858000"/>
          </a:xfrm>
          <a:prstGeom prst="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22191" y="0"/>
            <a:ext cx="8369503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27889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3EFEB"/>
                </a:solidFill>
                <a:latin typeface="Microsoft YaHei"/>
              </a:rPr>
              <a:t>门店月度复盘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65760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星河生活馆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9718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5 月经营回顾与 30 天行动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79776"/>
            <a:ext cx="566928" cy="54864"/>
          </a:xfrm>
          <a:prstGeom prst="rect">
            <a:avLst/>
          </a:prstGeom>
          <a:solidFill>
            <a:srgbClr val="D3EFEB"/>
          </a:solidFill>
          <a:ln>
            <a:solidFill>
              <a:srgbClr val="D3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78892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给新店长的经营抓手与下月行动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4924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3EFEB"/>
                </a:solidFill>
                <a:latin typeface="Microsoft YaHei"/>
              </a:rPr>
              <a:t>2025 年 5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15000"/>
            <a:ext cx="21945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3EFEB"/>
                </a:solidFill>
                <a:latin typeface="Microsoft YaHei"/>
              </a:rPr>
              <a:t>示例数据｜通用版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822960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2807E"/>
                </a:solidFill>
                <a:latin typeface="Microsoft YaHei"/>
              </a:rPr>
              <a:t>本月核心结论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170432"/>
            <a:ext cx="672084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292D"/>
                </a:solidFill>
                <a:latin typeface="Microsoft YaHei"/>
              </a:rPr>
              <a:t>销售达标，增长来自客流与结构性毛利改善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30552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A6F"/>
                </a:solidFill>
                <a:latin typeface="Microsoft YaHei"/>
              </a:rPr>
              <a:t>关键经营信号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2542032"/>
            <a:ext cx="69037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706624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销售额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60903"/>
            <a:ext cx="1828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5B5B"/>
                </a:solidFill>
                <a:latin typeface="Microsoft YaHei"/>
              </a:rPr>
              <a:t>86.4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24912"/>
            <a:ext cx="23317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目标达成 101.6%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3483863"/>
            <a:ext cx="69037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648456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客流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02735"/>
            <a:ext cx="1828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5B5B"/>
                </a:solidFill>
                <a:latin typeface="Microsoft YaHei"/>
              </a:rPr>
              <a:t>12,800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666744"/>
            <a:ext cx="23317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环比 +5.8%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4425696"/>
            <a:ext cx="69037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590288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毛利率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44568"/>
            <a:ext cx="1828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5B5B"/>
                </a:solidFill>
                <a:latin typeface="Microsoft YaHei"/>
              </a:rPr>
              <a:t>28.0%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608576"/>
            <a:ext cx="23317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环比 +1.3 个百分点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0816" y="6172200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502920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96112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932688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先看结果，再看抓手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11480"/>
            <a:ext cx="868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02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283464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星河生活馆｜门店月度复盘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28816"/>
            <a:ext cx="356616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示例数据｜金额单位：万元｜客流单位：人次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34440"/>
            <a:ext cx="2514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34440"/>
            <a:ext cx="54864" cy="1078992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380744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销售额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27632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86.4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39112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807E"/>
                </a:solidFill>
                <a:latin typeface="Microsoft YaHei"/>
              </a:rPr>
              <a:t>环比 +8.2%｜目标 101.6%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234440"/>
            <a:ext cx="2514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7832" y="1234440"/>
            <a:ext cx="54864" cy="1078992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380744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客流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627632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12,800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039112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807E"/>
                </a:solidFill>
                <a:latin typeface="Microsoft YaHei"/>
              </a:rPr>
              <a:t>环比 +5.8%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8736" y="1234440"/>
            <a:ext cx="2514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8736" y="1234440"/>
            <a:ext cx="54864" cy="1078992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1380744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转化率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1627632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18.6%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039112"/>
            <a:ext cx="2240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807E"/>
                </a:solidFill>
                <a:latin typeface="Microsoft YaHei"/>
              </a:rPr>
              <a:t>环比 +0.4 个百分点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234440"/>
            <a:ext cx="30723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1234440"/>
            <a:ext cx="54864" cy="1078992"/>
          </a:xfrm>
          <a:prstGeom prst="rect">
            <a:avLst/>
          </a:prstGeom>
          <a:solidFill>
            <a:srgbClr val="E07D41"/>
          </a:solidFill>
          <a:ln>
            <a:solidFill>
              <a:srgbClr val="E07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19" y="1380744"/>
            <a:ext cx="2798064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6F"/>
                </a:solidFill>
                <a:latin typeface="Microsoft YaHei"/>
              </a:rPr>
              <a:t>毛利率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1627632"/>
            <a:ext cx="2798064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28.0%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2039112"/>
            <a:ext cx="2798064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7D41"/>
                </a:solidFill>
                <a:latin typeface="Microsoft YaHei"/>
              </a:rPr>
              <a:t>环比 +1.3 个百分点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633472"/>
            <a:ext cx="6629400" cy="3227832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2907792"/>
            <a:ext cx="18288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2807E"/>
                </a:solidFill>
                <a:latin typeface="Microsoft YaHei"/>
              </a:rPr>
              <a:t>本月一句话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273552"/>
            <a:ext cx="580644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292D"/>
                </a:solidFill>
                <a:latin typeface="Microsoft YaHei"/>
              </a:rPr>
              <a:t>销售达标不是单点拉动，而是客流、转化与品类结构共同改善。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041648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01｜增长来源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041648"/>
            <a:ext cx="42245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客流环比增长 5.8%，第 4、5 周形成峰值。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562856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02｜效率变化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562856"/>
            <a:ext cx="42245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转化率连续改善，现场接待与动线优化开始见效。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84064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03｜结构改善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084064"/>
            <a:ext cx="42245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家居与食品毛利贡献提升，促销折损仍需控制。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2633472"/>
            <a:ext cx="4169663" cy="3227832"/>
          </a:xfrm>
          <a:prstGeom prst="round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944368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3EFEB"/>
                </a:solidFill>
                <a:latin typeface="Microsoft YaHei"/>
              </a:rPr>
              <a:t>店长先抓三件事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474720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502151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把工作日转化率拉到 19%+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114800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142232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把高毛利品类放到更强动线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754879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82312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用缺货与折损日报守住毛利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502920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96112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销售表现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932688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销售额连续 3 个月抬升，5 月首次超过目标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11480"/>
            <a:ext cx="868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03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283464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星河生活馆｜门店月度复盘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28816"/>
            <a:ext cx="356616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示例数据｜金额单位：万元｜客流单位：人次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" y="1298448"/>
          <a:ext cx="65379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925312"/>
            <a:ext cx="18288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金额单位：万元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298448"/>
            <a:ext cx="4215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581912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92D"/>
                </a:solidFill>
                <a:latin typeface="Microsoft YaHei"/>
              </a:rPr>
              <a:t>品类销售贡献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1901952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A6F"/>
                </a:solidFill>
                <a:latin typeface="Microsoft YaHei"/>
              </a:rPr>
              <a:t>食品是第一增长引擎，家居仍有提升空间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487168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292D"/>
                </a:solidFill>
                <a:latin typeface="Microsoft YaHei"/>
              </a:rPr>
              <a:t>食品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523744"/>
            <a:ext cx="2148840" cy="146304"/>
          </a:xfrm>
          <a:prstGeom prst="rect">
            <a:avLst/>
          </a:prstGeom>
          <a:solidFill>
            <a:srgbClr val="E8EFEF"/>
          </a:solidFill>
          <a:ln>
            <a:solidFill>
              <a:srgbClr val="E8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41080" y="2523744"/>
            <a:ext cx="2041398" cy="146304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7080" y="2478024"/>
            <a:ext cx="566928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32.8 万｜38.0%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145536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292D"/>
                </a:solidFill>
                <a:latin typeface="Microsoft YaHei"/>
              </a:rPr>
              <a:t>日百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3182112"/>
            <a:ext cx="2148840" cy="146304"/>
          </a:xfrm>
          <a:prstGeom prst="rect">
            <a:avLst/>
          </a:prstGeom>
          <a:solidFill>
            <a:srgbClr val="E8EFEF"/>
          </a:solidFill>
          <a:ln>
            <a:solidFill>
              <a:srgbClr val="E8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3182112"/>
            <a:ext cx="1531048" cy="146304"/>
          </a:xfrm>
          <a:prstGeom prst="rect">
            <a:avLst/>
          </a:prstGeom>
          <a:solidFill>
            <a:srgbClr val="4E9F99"/>
          </a:solidFill>
          <a:ln>
            <a:solidFill>
              <a:srgbClr val="4E9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7080" y="3136392"/>
            <a:ext cx="566928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24.6 万｜28.5%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803904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292D"/>
                </a:solidFill>
                <a:latin typeface="Microsoft YaHei"/>
              </a:rPr>
              <a:t>家居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840480"/>
            <a:ext cx="2148840" cy="146304"/>
          </a:xfrm>
          <a:prstGeom prst="rect">
            <a:avLst/>
          </a:prstGeom>
          <a:solidFill>
            <a:srgbClr val="E8EFEF"/>
          </a:solidFill>
          <a:ln>
            <a:solidFill>
              <a:srgbClr val="E8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3840480"/>
            <a:ext cx="1128141" cy="146304"/>
          </a:xfrm>
          <a:prstGeom prst="rect">
            <a:avLst/>
          </a:prstGeom>
          <a:solidFill>
            <a:srgbClr val="80BDB2"/>
          </a:solidFill>
          <a:ln>
            <a:solidFill>
              <a:srgbClr val="80B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27080" y="3794760"/>
            <a:ext cx="566928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18.1 万｜21.0%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4462272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292D"/>
                </a:solidFill>
                <a:latin typeface="Microsoft YaHei"/>
              </a:rPr>
              <a:t>其他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4498848"/>
            <a:ext cx="2148840" cy="146304"/>
          </a:xfrm>
          <a:prstGeom prst="rect">
            <a:avLst/>
          </a:prstGeom>
          <a:solidFill>
            <a:srgbClr val="E8EFEF"/>
          </a:solidFill>
          <a:ln>
            <a:solidFill>
              <a:srgbClr val="E8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4498848"/>
            <a:ext cx="671512" cy="146304"/>
          </a:xfrm>
          <a:prstGeom prst="rect">
            <a:avLst/>
          </a:prstGeom>
          <a:solidFill>
            <a:srgbClr val="A7B1B2"/>
          </a:solidFill>
          <a:ln>
            <a:solidFill>
              <a:srgbClr val="A7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27080" y="4453128"/>
            <a:ext cx="566928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10.9 万｜12.5%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5239512"/>
            <a:ext cx="3383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简单说：这次销售涨得挺扎实，但主要还是食品在拉动；下月把家居陈列和连带销售再做起来。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502920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96112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客流与转化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932688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客流峰值出现在月末，转化率同步走高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11480"/>
            <a:ext cx="868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283464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星河生活馆｜门店月度复盘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28816"/>
            <a:ext cx="356616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示例数据｜金额单位：万元｜客流单位：人次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" y="1298448"/>
          <a:ext cx="65379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925312"/>
            <a:ext cx="53035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注：组合图中转化率与客流共用主坐标轴，重点读趋势变化；转化率数据见右侧。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298448"/>
            <a:ext cx="4215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58191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92D"/>
                </a:solidFill>
                <a:latin typeface="Microsoft YaHei"/>
              </a:rPr>
              <a:t>现场观察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103120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周末峰值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359152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第 4、5 周客流达到 2,690 / 2,760 人次。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063239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工作日转化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319272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第 1 周转化率 17.8%，低于月末 1.7 个百分点。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4023360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执行动作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279392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2D"/>
                </a:solidFill>
                <a:latin typeface="Microsoft YaHei"/>
              </a:rPr>
              <a:t>工作日 17:00 前强化入口迎宾、关联推荐与收银排队疏导。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5166360"/>
            <a:ext cx="3429000" cy="384048"/>
          </a:xfrm>
          <a:prstGeom prst="roundRect">
            <a:avLst/>
          </a:prstGeom>
          <a:solidFill>
            <a:srgbClr val="FCECE1"/>
          </a:solidFill>
          <a:ln>
            <a:solidFill>
              <a:srgbClr val="FC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5266944"/>
            <a:ext cx="30632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7D41"/>
                </a:solidFill>
                <a:latin typeface="Microsoft YaHei"/>
              </a:rPr>
              <a:t>下月目标：转化率 19.5%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502920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96112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毛利与问题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932688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结构改善已发生，但问题集中在执行稳定性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11480"/>
            <a:ext cx="868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283464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星河生活馆｜门店月度复盘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28816"/>
            <a:ext cx="356616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示例数据｜金额单位：万元｜客流单位：人次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" y="1234440"/>
          <a:ext cx="56235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886200"/>
            <a:ext cx="29260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毛利额构成｜金额单位：万元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5175504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1508760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92D"/>
                </a:solidFill>
                <a:latin typeface="Microsoft YaHei"/>
              </a:rPr>
              <a:t>三项经营问题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70832"/>
            <a:ext cx="11055096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480560"/>
            <a:ext cx="10058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7D41"/>
                </a:solidFill>
                <a:latin typeface="Microsoft YaHei"/>
              </a:rPr>
              <a:t>缺货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480560"/>
            <a:ext cx="2971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2D"/>
                </a:solidFill>
                <a:latin typeface="Microsoft YaHei"/>
              </a:rPr>
              <a:t>现象：高峰周部分家居 SKU 缺货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4480560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影响：损失连带销售机会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480560"/>
            <a:ext cx="3429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根因：补货阈值未按周末峰值调整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46904"/>
            <a:ext cx="11055096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056632"/>
            <a:ext cx="10058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7D41"/>
                </a:solidFill>
                <a:latin typeface="Microsoft YaHei"/>
              </a:rPr>
              <a:t>促销折损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056632"/>
            <a:ext cx="2971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2D"/>
                </a:solidFill>
                <a:latin typeface="Microsoft YaHei"/>
              </a:rPr>
              <a:t>现象：活动尾期折扣加深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5056632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影响：毛利率被动下滑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056632"/>
            <a:ext cx="3429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根因：库存与促销节奏未联动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22976"/>
            <a:ext cx="11055096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632704"/>
            <a:ext cx="10058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7D41"/>
                </a:solidFill>
                <a:latin typeface="Microsoft YaHei"/>
              </a:rPr>
              <a:t>动线执行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632704"/>
            <a:ext cx="2971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2D"/>
                </a:solidFill>
                <a:latin typeface="Microsoft YaHei"/>
              </a:rPr>
              <a:t>现象：高毛利陈列不稳定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5632704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影响：推荐率与连带率波动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632704"/>
            <a:ext cx="3429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根因：班次交接缺少检查点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solidFill>
              <a:srgbClr val="F8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502920"/>
          </a:xfrm>
          <a:prstGeom prst="rect">
            <a:avLst/>
          </a:prstGeom>
          <a:solidFill>
            <a:srgbClr val="12807E"/>
          </a:solidFill>
          <a:ln>
            <a:solidFill>
              <a:srgbClr val="12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96112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92D"/>
                </a:solidFill>
                <a:latin typeface="Microsoft YaHei"/>
              </a:rPr>
              <a:t>下月计划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932688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A6F"/>
                </a:solidFill>
                <a:latin typeface="Microsoft YaHei"/>
              </a:rPr>
              <a:t>把改善写进班次、陈列和日报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11480"/>
            <a:ext cx="868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A6F"/>
                </a:solidFill>
                <a:latin typeface="Microsoft YaHei"/>
              </a:rPr>
              <a:t>06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283464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星河生活馆｜门店月度复盘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28816"/>
            <a:ext cx="356616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A6F"/>
                </a:solidFill>
                <a:latin typeface="Microsoft YaHei"/>
              </a:rPr>
              <a:t>示例数据｜金额单位：万元｜客流单位：人次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7043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807E"/>
                </a:solidFill>
                <a:latin typeface="Microsoft YaHei"/>
              </a:rPr>
              <a:t>下月经营目标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54480"/>
            <a:ext cx="24871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A6F"/>
                </a:solidFill>
                <a:latin typeface="Microsoft YaHei"/>
              </a:rPr>
              <a:t>销售额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2011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5B5B"/>
                </a:solidFill>
                <a:latin typeface="Microsoft YaHei"/>
              </a:rPr>
              <a:t>90.0 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554480"/>
            <a:ext cx="24871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A6F"/>
                </a:solidFill>
                <a:latin typeface="Microsoft YaHei"/>
              </a:rPr>
              <a:t>客流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93392"/>
            <a:ext cx="2011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5B5B"/>
                </a:solidFill>
                <a:latin typeface="Microsoft YaHei"/>
              </a:rPr>
              <a:t>13,500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554480"/>
            <a:ext cx="24871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737360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A6F"/>
                </a:solidFill>
                <a:latin typeface="Microsoft YaHei"/>
              </a:rPr>
              <a:t>转化率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993392"/>
            <a:ext cx="2011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5B5B"/>
                </a:solidFill>
                <a:latin typeface="Microsoft YaHei"/>
              </a:rPr>
              <a:t>19.5%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7" y="1554480"/>
            <a:ext cx="24871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79" y="1737360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A6F"/>
                </a:solidFill>
                <a:latin typeface="Microsoft YaHei"/>
              </a:rPr>
              <a:t>毛利率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1993392"/>
            <a:ext cx="2011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5B5B"/>
                </a:solidFill>
                <a:latin typeface="Microsoft YaHei"/>
              </a:rPr>
              <a:t>29.0%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724912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92D"/>
                </a:solidFill>
                <a:latin typeface="Microsoft YaHei"/>
              </a:rPr>
              <a:t>30 天行动清单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08960"/>
            <a:ext cx="1828800" cy="384048"/>
          </a:xfrm>
          <a:prstGeom prst="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18688"/>
            <a:ext cx="1609344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行动主题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108960"/>
            <a:ext cx="3749039" cy="384048"/>
          </a:xfrm>
          <a:prstGeom prst="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3218688"/>
            <a:ext cx="3529583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关键动作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08960"/>
            <a:ext cx="2240280" cy="384048"/>
          </a:xfrm>
          <a:prstGeom prst="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218688"/>
            <a:ext cx="2020824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负责人 / 节奏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7968" y="3108960"/>
            <a:ext cx="2697480" cy="384048"/>
          </a:xfrm>
          <a:prstGeom prst="rect">
            <a:avLst/>
          </a:prstGeom>
          <a:solidFill>
            <a:srgbClr val="0B5B5B"/>
          </a:solidFill>
          <a:ln>
            <a:solidFill>
              <a:srgbClr val="0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218688"/>
            <a:ext cx="2478024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验收指标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493008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14600" y="3493008"/>
            <a:ext cx="37490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3493008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3493008"/>
            <a:ext cx="2697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611879"/>
            <a:ext cx="162763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292D"/>
                </a:solidFill>
                <a:latin typeface="Microsoft YaHei"/>
              </a:rPr>
              <a:t>提升工作日进店转化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4328" y="3611879"/>
            <a:ext cx="3547871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17:00 前入口迎宾；收银区做关联推荐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3611879"/>
            <a:ext cx="20391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店长 / 每日巡检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3611879"/>
            <a:ext cx="24963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工作日转化率 ≥ 19.0%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151376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14600" y="4151376"/>
            <a:ext cx="37490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6520" y="4151376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87968" y="4151376"/>
            <a:ext cx="2697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270248"/>
            <a:ext cx="162763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292D"/>
                </a:solidFill>
                <a:latin typeface="Microsoft YaHei"/>
              </a:rPr>
              <a:t>优化高毛利陈列与连带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24328" y="4270248"/>
            <a:ext cx="3547871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家居主通道端架；每班次拍照复核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4270248"/>
            <a:ext cx="20391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招商主管 / 每周一调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7696" y="4270248"/>
            <a:ext cx="24963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家居连带率 +2 个百分点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09744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14600" y="4809744"/>
            <a:ext cx="37490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6520" y="4809744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87968" y="4809744"/>
            <a:ext cx="2697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" y="4928616"/>
            <a:ext cx="162763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292D"/>
                </a:solidFill>
                <a:latin typeface="Microsoft YaHei"/>
              </a:rPr>
              <a:t>降低缺货与促销折损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4328" y="4928616"/>
            <a:ext cx="3547871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周末前滚动补货；活动尾盘设止损线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928616"/>
            <a:ext cx="20391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店长+采购 / 周三、周六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7696" y="4928616"/>
            <a:ext cx="2496312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F292D"/>
                </a:solidFill>
                <a:latin typeface="Microsoft YaHei"/>
              </a:rPr>
              <a:t>缺货率 ≤ 2%；折损率下降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623560"/>
            <a:ext cx="11018520" cy="429768"/>
          </a:xfrm>
          <a:prstGeom prst="roundRect">
            <a:avLst/>
          </a:prstGeom>
          <a:solidFill>
            <a:srgbClr val="D3EFEB"/>
          </a:solidFill>
          <a:ln>
            <a:solidFill>
              <a:srgbClr val="D3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5742432"/>
            <a:ext cx="105156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B5B5B"/>
                </a:solidFill>
                <a:latin typeface="Microsoft YaHei"/>
              </a:rPr>
              <a:t>30 天节奏：第 1 周定标准｜第 2 周看转化｜第 3 周调陈列｜第 4 周复盘毛利与缺货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星河生活馆 2025年5月门店月度复盘（示例数据）</dc:title>
  <dc:subject>销售、客流、毛利、问题与下月计划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