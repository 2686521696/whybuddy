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续航（天）</c:v>
                </c:pt>
              </c:strCache>
            </c:strRef>
          </c:tx>
          <c:spPr>
            <a:solidFill>
              <a:srgbClr val="53E5FF"/>
            </a:solidFill>
            <a:ln>
              <a:solidFill>
                <a:srgbClr val="53E5FF"/>
              </a:solidFill>
            </a:ln>
          </c:spPr>
          <c:dLbls>
            <c:txPr>
              <a:bodyPr/>
              <a:lstStyle/>
              <a:p>
                <a:pPr>
                  <a:defRPr sz="1200">
                    <a:solidFill>
                      <a:srgbClr val="F5F8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Nova Watch Lite</c:v>
                </c:pt>
                <c:pt idx="1">
                  <c:v>Nova Watch</c:v>
                </c:pt>
                <c:pt idx="2">
                  <c:v>Nova Watch Pro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10</c:v>
                </c:pt>
                <c:pt idx="2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9415B"/>
            </a:solidFill>
          </a:ln>
        </c:spPr>
        <c:txPr>
          <a:bodyPr/>
          <a:lstStyle/>
          <a:p>
            <a:pPr>
              <a:defRPr sz="1000">
                <a:solidFill>
                  <a:srgbClr val="A7B6C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>
              <a:solidFill>
                <a:srgbClr val="29415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9415B"/>
            </a:solidFill>
          </a:ln>
        </c:spPr>
        <c:txPr>
          <a:bodyPr/>
          <a:lstStyle/>
          <a:p>
            <a:pPr>
              <a:defRPr sz="900">
                <a:solidFill>
                  <a:srgbClr val="A7B6C9"/>
                </a:solidFill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53312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03704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54096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04488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05272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55664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06056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8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6840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57232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07624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58016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874519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350008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825496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300984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76472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251960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727448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202936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78424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53E5FF"/>
                </a:solidFill>
                <a:latin typeface="Aptos"/>
              </a:rPr>
              <a:t>NOVA WATCH / PRODUCT LAUNCH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298448"/>
            <a:ext cx="6858000" cy="1234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让每一次抬腕</a:t>
            </a:r>
            <a:br/>
            <a:r>
              <a:rPr sz="3400" b="1">
                <a:solidFill>
                  <a:srgbClr val="F5F8FC"/>
                </a:solidFill>
                <a:latin typeface="Aptos Display"/>
              </a:rPr>
              <a:t>都更有价值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2816352"/>
            <a:ext cx="48463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A7B6C9"/>
                </a:solidFill>
                <a:latin typeface="Aptos"/>
              </a:rPr>
              <a:t>三款智能手表，覆盖日常、全能与专业运动。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3794760"/>
            <a:ext cx="1234440" cy="256032"/>
          </a:xfrm>
          <a:prstGeom prst="roundRect">
            <a:avLst/>
          </a:prstGeom>
          <a:solidFill>
            <a:srgbClr val="B7F36B"/>
          </a:solidFill>
          <a:ln w="8890">
            <a:solidFill>
              <a:srgbClr val="B7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835908"/>
            <a:ext cx="1234440" cy="1280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B7F36B"/>
                </a:solidFill>
                <a:latin typeface="Aptos"/>
              </a:rPr>
              <a:t>CONCEPT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4773168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A7B6C9"/>
                </a:solidFill>
                <a:latin typeface="Aptos"/>
              </a:rPr>
              <a:t>媒体与消费者预览版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58250" y="1280160"/>
            <a:ext cx="1074420" cy="386791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858250" y="3042208"/>
            <a:ext cx="1074420" cy="386791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21040" y="1559509"/>
            <a:ext cx="2148840" cy="1590141"/>
          </a:xfrm>
          <a:prstGeom prst="roundRect">
            <a:avLst/>
          </a:prstGeom>
          <a:solidFill>
            <a:srgbClr val="121D30"/>
          </a:solidFill>
          <a:ln w="19050">
            <a:solidFill>
              <a:srgbClr val="53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78900" y="1817369"/>
            <a:ext cx="1633118" cy="107442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0808" y="2118207"/>
            <a:ext cx="1289304" cy="34381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53E5FF"/>
                </a:solidFill>
                <a:latin typeface="Aptos"/>
              </a:rPr>
              <a:t>NOVA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0808" y="2504998"/>
            <a:ext cx="1289304" cy="2148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0">
                <a:solidFill>
                  <a:srgbClr val="A7B6C9"/>
                </a:solidFill>
                <a:latin typeface="Aptos"/>
              </a:rPr>
              <a:t>10:09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09809" y="2606040"/>
            <a:ext cx="708660" cy="255117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909809" y="3768242"/>
            <a:ext cx="708660" cy="255117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555480" y="2790291"/>
            <a:ext cx="1417320" cy="1048816"/>
          </a:xfrm>
          <a:prstGeom prst="roundRect">
            <a:avLst/>
          </a:prstGeom>
          <a:solidFill>
            <a:srgbClr val="121D30"/>
          </a:solidFill>
          <a:ln w="19050">
            <a:solidFill>
              <a:srgbClr val="B7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25558" y="2960370"/>
            <a:ext cx="1077163" cy="70866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38944" y="3158794"/>
            <a:ext cx="850392" cy="22677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B7F36B"/>
                </a:solidFill>
                <a:latin typeface="Aptos"/>
              </a:rPr>
              <a:t>PRO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38944" y="3413912"/>
            <a:ext cx="850392" cy="1417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0">
                <a:solidFill>
                  <a:srgbClr val="A7B6C9"/>
                </a:solidFill>
                <a:latin typeface="Aptos"/>
              </a:rPr>
              <a:t>10:09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5394960"/>
            <a:ext cx="3474720" cy="27432"/>
          </a:xfrm>
          <a:prstGeom prst="rect">
            <a:avLst/>
          </a:prstGeom>
          <a:solidFill>
            <a:srgbClr val="5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A7B6C9"/>
                </a:solidFill>
                <a:latin typeface="Aptos"/>
              </a:rPr>
              <a:t>CONCEPT PRODUCT / 概念设定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A7B6C9"/>
                </a:solidFill>
                <a:latin typeface="Apto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53E5FF"/>
                </a:solidFill>
                <a:latin typeface="Aptos"/>
              </a:rPr>
              <a:t>01 / PRODUCT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 Display"/>
              </a:rPr>
              <a:t>三款产品，覆盖从日常到极致运动的完整需求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05840" cy="36576"/>
          </a:xfrm>
          <a:prstGeom prst="rect">
            <a:avLst/>
          </a:prstGeom>
          <a:solidFill>
            <a:srgbClr val="5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A7B6C9"/>
                </a:solidFill>
                <a:latin typeface="Aptos"/>
              </a:rPr>
              <a:t>CONCEPT PRODUCT / 概念设定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A7B6C9"/>
                </a:solidFill>
                <a:latin typeface="Aptos"/>
              </a:rPr>
              <a:t>02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337560" cy="406908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16252" y="2057400"/>
            <a:ext cx="594360" cy="213969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6252" y="3032150"/>
            <a:ext cx="594360" cy="213969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19072" y="2211933"/>
            <a:ext cx="1188720" cy="879652"/>
          </a:xfrm>
          <a:prstGeom prst="roundRect">
            <a:avLst/>
          </a:prstGeom>
          <a:solidFill>
            <a:srgbClr val="121D30"/>
          </a:solidFill>
          <a:ln w="19050">
            <a:solidFill>
              <a:srgbClr val="53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61718" y="2354580"/>
            <a:ext cx="903427" cy="59436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56815" y="2521000"/>
            <a:ext cx="713232" cy="19019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53E5FF"/>
                </a:solidFill>
                <a:latin typeface="Aptos"/>
              </a:rPr>
              <a:t>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5" y="2734970"/>
            <a:ext cx="713232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0">
                <a:solidFill>
                  <a:srgbClr val="A7B6C9"/>
                </a:solidFill>
                <a:latin typeface="Aptos"/>
              </a:rPr>
              <a:t>10:09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Nova Watch 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41648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3E5FF"/>
                </a:solidFill>
                <a:latin typeface="Aptos"/>
              </a:rPr>
              <a:t>轻量日常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90872"/>
            <a:ext cx="13716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A7B6C9"/>
                </a:solidFill>
                <a:latin typeface="Aptos"/>
              </a:rPr>
              <a:t>重量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19472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32 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39" y="4690872"/>
            <a:ext cx="11887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A7B6C9"/>
                </a:solidFill>
                <a:latin typeface="Aptos"/>
              </a:rPr>
              <a:t>续航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39" y="4919472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53E5FF"/>
                </a:solidFill>
                <a:latin typeface="Aptos"/>
              </a:rPr>
              <a:t>14 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1143000" cy="256032"/>
          </a:xfrm>
          <a:prstGeom prst="roundRect">
            <a:avLst/>
          </a:prstGeom>
          <a:solidFill>
            <a:srgbClr val="53E5FF"/>
          </a:solidFill>
          <a:ln w="8890">
            <a:solidFill>
              <a:srgbClr val="53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45836"/>
            <a:ext cx="1143000" cy="1280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53E5FF"/>
                </a:solidFill>
                <a:latin typeface="Aptos"/>
              </a:rPr>
              <a:t>查看型号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1828800"/>
            <a:ext cx="3337560" cy="406908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47004" y="2057400"/>
            <a:ext cx="594360" cy="213969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47004" y="3032150"/>
            <a:ext cx="594360" cy="213969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49824" y="2211933"/>
            <a:ext cx="1188720" cy="879652"/>
          </a:xfrm>
          <a:prstGeom prst="roundRect">
            <a:avLst/>
          </a:prstGeom>
          <a:solidFill>
            <a:srgbClr val="121D30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92470" y="2354580"/>
            <a:ext cx="903427" cy="59436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87568" y="2521000"/>
            <a:ext cx="713232" cy="19019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F80ED"/>
                </a:solidFill>
                <a:latin typeface="Aptos"/>
              </a:rPr>
              <a:t>WATCH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87568" y="2734970"/>
            <a:ext cx="713232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0">
                <a:solidFill>
                  <a:srgbClr val="A7B6C9"/>
                </a:solidFill>
                <a:latin typeface="Aptos"/>
              </a:rPr>
              <a:t>10:09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365760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Nova Watch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041648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F80ED"/>
                </a:solidFill>
                <a:latin typeface="Aptos"/>
              </a:rPr>
              <a:t>全能主力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4690872"/>
            <a:ext cx="13716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A7B6C9"/>
                </a:solidFill>
                <a:latin typeface="Aptos"/>
              </a:rPr>
              <a:t>重量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4919472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41 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4690872"/>
            <a:ext cx="11887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A7B6C9"/>
                </a:solidFill>
                <a:latin typeface="Aptos"/>
              </a:rPr>
              <a:t>续航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8192" y="4919472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2F80ED"/>
                </a:solidFill>
                <a:latin typeface="Aptos"/>
              </a:rPr>
              <a:t>10 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99432" y="5504688"/>
            <a:ext cx="1143000" cy="256032"/>
          </a:xfrm>
          <a:prstGeom prst="roundRect">
            <a:avLst/>
          </a:prstGeom>
          <a:solidFill>
            <a:srgbClr val="2F80ED"/>
          </a:solidFill>
          <a:ln w="889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5545836"/>
            <a:ext cx="1143000" cy="1280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2F80ED"/>
                </a:solidFill>
                <a:latin typeface="Aptos"/>
              </a:rPr>
              <a:t>查看型号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1583" y="1828800"/>
            <a:ext cx="3337560" cy="406908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77755" y="2057400"/>
            <a:ext cx="594360" cy="213969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77755" y="3032150"/>
            <a:ext cx="594360" cy="213969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80576" y="2211933"/>
            <a:ext cx="1188720" cy="879652"/>
          </a:xfrm>
          <a:prstGeom prst="roundRect">
            <a:avLst/>
          </a:prstGeom>
          <a:solidFill>
            <a:srgbClr val="121D30"/>
          </a:solidFill>
          <a:ln w="19050">
            <a:solidFill>
              <a:srgbClr val="B7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23222" y="2354580"/>
            <a:ext cx="903427" cy="59436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19" y="2521000"/>
            <a:ext cx="713232" cy="19019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B7F36B"/>
                </a:solidFill>
                <a:latin typeface="Aptos"/>
              </a:rPr>
              <a:t>PRO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19" y="2734970"/>
            <a:ext cx="713232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0">
                <a:solidFill>
                  <a:srgbClr val="A7B6C9"/>
                </a:solidFill>
                <a:latin typeface="Aptos"/>
              </a:rPr>
              <a:t>10:09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0183" y="365760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Nova Watch Pro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0183" y="4041648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B7F36B"/>
                </a:solidFill>
                <a:latin typeface="Aptos"/>
              </a:rPr>
              <a:t>专业运动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0183" y="4690872"/>
            <a:ext cx="13716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A7B6C9"/>
                </a:solidFill>
                <a:latin typeface="Aptos"/>
              </a:rPr>
              <a:t>重量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0183" y="4919472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39 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38944" y="4690872"/>
            <a:ext cx="11887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A7B6C9"/>
                </a:solidFill>
                <a:latin typeface="Aptos"/>
              </a:rPr>
              <a:t>续航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38944" y="4919472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B7F36B"/>
                </a:solidFill>
                <a:latin typeface="Aptos"/>
              </a:rPr>
              <a:t>18 天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30183" y="5504688"/>
            <a:ext cx="1143000" cy="256032"/>
          </a:xfrm>
          <a:prstGeom prst="roundRect">
            <a:avLst/>
          </a:prstGeom>
          <a:solidFill>
            <a:srgbClr val="B7F36B"/>
          </a:solidFill>
          <a:ln w="8890">
            <a:solidFill>
              <a:srgbClr val="B7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0183" y="5545836"/>
            <a:ext cx="1143000" cy="1280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B7F36B"/>
                </a:solidFill>
                <a:latin typeface="Aptos"/>
              </a:rPr>
              <a:t>查看型号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53E5FF"/>
                </a:solidFill>
                <a:latin typeface="Aptos"/>
              </a:rPr>
              <a:t>02 / PRO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 Display"/>
              </a:rPr>
              <a:t>Nova Watch Pro 把专业运动能力装进更轻的机身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05840" cy="36576"/>
          </a:xfrm>
          <a:prstGeom prst="rect">
            <a:avLst/>
          </a:prstGeom>
          <a:solidFill>
            <a:srgbClr val="5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A7B6C9"/>
                </a:solidFill>
                <a:latin typeface="Aptos"/>
              </a:rPr>
              <a:t>CONCEPT PRODUCT / 概念设定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A7B6C9"/>
                </a:solidFill>
                <a:latin typeface="Aptos"/>
              </a:rPr>
              <a:t>03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19072"/>
            <a:ext cx="106070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A7B6C9"/>
                </a:solidFill>
                <a:latin typeface="Aptos"/>
              </a:rPr>
              <a:t>从装备到洞察，四个里程碑把每一次训练变成下一次进步。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072384"/>
            <a:ext cx="10195560" cy="41148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395728"/>
            <a:ext cx="1993392" cy="1389888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82495" y="2916936"/>
            <a:ext cx="457200" cy="457200"/>
          </a:xfrm>
          <a:prstGeom prst="roundRect">
            <a:avLst/>
          </a:prstGeom>
          <a:solidFill>
            <a:srgbClr val="B7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495" y="3035808"/>
            <a:ext cx="457200" cy="1463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0B122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1993392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B7F36B"/>
                </a:solidFill>
                <a:latin typeface="Aptos"/>
              </a:rPr>
              <a:t>轻装上阵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62272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39 g 钛合金机身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8"/>
            <a:ext cx="1993392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0">
                <a:solidFill>
                  <a:srgbClr val="A7B6C9"/>
                </a:solidFill>
                <a:latin typeface="Aptos"/>
              </a:rPr>
              <a:t>把专业能力装进更轻的身体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395728"/>
            <a:ext cx="1993392" cy="1389888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71416" y="2916936"/>
            <a:ext cx="457200" cy="457200"/>
          </a:xfrm>
          <a:prstGeom prst="roundRect">
            <a:avLst/>
          </a:prstGeom>
          <a:solidFill>
            <a:srgbClr val="5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1416" y="3035808"/>
            <a:ext cx="457200" cy="1463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0B1220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096512"/>
            <a:ext cx="1993392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3E5FF"/>
                </a:solidFill>
                <a:latin typeface="Aptos"/>
              </a:rPr>
              <a:t>精准定位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462272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双频 GNSS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864608"/>
            <a:ext cx="1993392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0">
                <a:solidFill>
                  <a:srgbClr val="A7B6C9"/>
                </a:solidFill>
                <a:latin typeface="Aptos"/>
              </a:rPr>
              <a:t>复杂城市与山地环境也能稳定记录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395728"/>
            <a:ext cx="1993392" cy="1389888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60336" y="2916936"/>
            <a:ext cx="457200" cy="45720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3035808"/>
            <a:ext cx="457200" cy="1463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0B122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096512"/>
            <a:ext cx="1993392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2F80ED"/>
                </a:solidFill>
                <a:latin typeface="Aptos"/>
              </a:rPr>
              <a:t>全天候训练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462272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100 m 防水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64608"/>
            <a:ext cx="1993392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0">
                <a:solidFill>
                  <a:srgbClr val="A7B6C9"/>
                </a:solidFill>
                <a:latin typeface="Aptos"/>
              </a:rPr>
              <a:t>泳池、开放水域与雨天训练都能应对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59" y="2395728"/>
            <a:ext cx="1993392" cy="1389888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49255" y="2916936"/>
            <a:ext cx="457200" cy="457200"/>
          </a:xfrm>
          <a:prstGeom prst="roundRect">
            <a:avLst/>
          </a:prstGeom>
          <a:solidFill>
            <a:srgbClr val="B7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9255" y="3035808"/>
            <a:ext cx="457200" cy="1463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0B1220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4096512"/>
            <a:ext cx="1993392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B7F36B"/>
                </a:solidFill>
                <a:latin typeface="Aptos"/>
              </a:rPr>
              <a:t>训练闭环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4462272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负荷与恢复建议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4864608"/>
            <a:ext cx="1993392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0">
                <a:solidFill>
                  <a:srgbClr val="A7B6C9"/>
                </a:solidFill>
                <a:latin typeface="Aptos"/>
              </a:rPr>
              <a:t>看见强度、恢复与下一次行动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" y="5742432"/>
            <a:ext cx="1572768" cy="256032"/>
          </a:xfrm>
          <a:prstGeom prst="roundRect">
            <a:avLst/>
          </a:prstGeom>
          <a:solidFill>
            <a:srgbClr val="B7F36B"/>
          </a:solidFill>
          <a:ln w="8890">
            <a:solidFill>
              <a:srgbClr val="B7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783580"/>
            <a:ext cx="1572768" cy="1280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B7F36B"/>
                </a:solidFill>
                <a:latin typeface="Aptos"/>
              </a:rPr>
              <a:t>FOR ATHLETES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53E5FF"/>
                </a:solidFill>
                <a:latin typeface="Aptos"/>
              </a:rPr>
              <a:t>03 / BATTERY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 Display"/>
              </a:rPr>
              <a:t>全系续航最长可达 18 天，出门不再被充电打断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05840" cy="36576"/>
          </a:xfrm>
          <a:prstGeom prst="rect">
            <a:avLst/>
          </a:prstGeom>
          <a:solidFill>
            <a:srgbClr val="5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A7B6C9"/>
                </a:solidFill>
                <a:latin typeface="Aptos"/>
              </a:rPr>
              <a:t>CONCEPT PRODUCT / 概念设定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A7B6C9"/>
                </a:solidFill>
                <a:latin typeface="Aptos"/>
              </a:rPr>
              <a:t>04 / 08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828800"/>
          <a:ext cx="690372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0" y="1993392"/>
            <a:ext cx="3063240" cy="338328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233172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000" b="1">
                <a:solidFill>
                  <a:srgbClr val="B7F36B"/>
                </a:solidFill>
                <a:latin typeface="Aptos"/>
              </a:rPr>
              <a:t>18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2788920"/>
            <a:ext cx="22860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Nova Watch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8784" y="3383280"/>
            <a:ext cx="2148840" cy="960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典型使用模式</a:t>
            </a:r>
            <a:br/>
            <a:r>
              <a:rPr sz="1800" b="1">
                <a:solidFill>
                  <a:srgbClr val="F5F8FC"/>
                </a:solidFill>
                <a:latin typeface="Aptos"/>
              </a:rPr>
              <a:t>下的设定值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4736592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A7B6C9"/>
                </a:solidFill>
                <a:latin typeface="Aptos"/>
              </a:rPr>
              <a:t>连续出行、训练与睡眠记录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A7B6C9"/>
                </a:solidFill>
                <a:latin typeface="Aptos"/>
              </a:rPr>
              <a:t>CONCEPT PRODUCT / 概念设定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A7B6C9"/>
                </a:solidFill>
                <a:latin typeface="Apto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53E5FF"/>
                </a:solidFill>
                <a:latin typeface="Aptos"/>
              </a:rPr>
              <a:t>04 /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 Display"/>
              </a:rPr>
              <a:t>健康监测从被动记录，升级为主动洞察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05840" cy="36576"/>
          </a:xfrm>
          <a:prstGeom prst="rect">
            <a:avLst/>
          </a:prstGeom>
          <a:solidFill>
            <a:srgbClr val="5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A7B6C9"/>
                </a:solidFill>
                <a:latin typeface="Aptos"/>
              </a:rPr>
              <a:t>CONCEPT PRODUCT / 概念设定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A7B6C9"/>
                </a:solidFill>
                <a:latin typeface="Aptos"/>
              </a:rPr>
              <a:t>05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3246120" cy="306324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53E5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全天感知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2651760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A7B6C9"/>
                </a:solidFill>
                <a:latin typeface="Aptos"/>
              </a:rPr>
              <a:t>心率、血氧、压力与睡眠阶段持续记录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617720"/>
            <a:ext cx="2377440" cy="36576"/>
          </a:xfrm>
          <a:prstGeom prst="rect">
            <a:avLst/>
          </a:prstGeom>
          <a:solidFill>
            <a:srgbClr val="5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79" y="1965960"/>
            <a:ext cx="3246120" cy="306324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2677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53E5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788920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趋势识别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429000"/>
            <a:ext cx="2651760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A7B6C9"/>
                </a:solidFill>
                <a:latin typeface="Aptos"/>
              </a:rPr>
              <a:t>把单次读数变成可理解的长期趋势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79" y="4617720"/>
            <a:ext cx="237744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19" y="1965960"/>
            <a:ext cx="3246120" cy="306324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22677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53E5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788920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行动提醒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429000"/>
            <a:ext cx="2651760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A7B6C9"/>
                </a:solidFill>
                <a:latin typeface="Aptos"/>
              </a:rPr>
              <a:t>用异常提醒、恢复建议与周期管理帮助行动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19" y="4617720"/>
            <a:ext cx="2377440" cy="36576"/>
          </a:xfrm>
          <a:prstGeom prst="rect">
            <a:avLst/>
          </a:prstGeom>
          <a:solidFill>
            <a:srgbClr val="B7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559552"/>
            <a:ext cx="91440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A7B6C9"/>
                </a:solidFill>
                <a:latin typeface="Aptos"/>
              </a:rPr>
              <a:t>概念体验：功能可用性与监测精度以最终上市版本为准。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53E5FF"/>
                </a:solidFill>
                <a:latin typeface="Aptos"/>
              </a:rPr>
              <a:t>05 /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 Display"/>
              </a:rPr>
              <a:t>三款型号的差异，归结为场景而不是妥协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05840" cy="36576"/>
          </a:xfrm>
          <a:prstGeom prst="rect">
            <a:avLst/>
          </a:prstGeom>
          <a:solidFill>
            <a:srgbClr val="5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A7B6C9"/>
                </a:solidFill>
                <a:latin typeface="Aptos"/>
              </a:rPr>
              <a:t>CONCEPT PRODUCT / 概念设定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A7B6C9"/>
                </a:solidFill>
                <a:latin typeface="Aptos"/>
              </a:rPr>
              <a:t>06 / 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83080"/>
          <a:ext cx="10927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2880360"/>
                <a:gridCol w="2880360"/>
                <a:gridCol w="3172968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3E5FF"/>
                          </a:solidFill>
                          <a:latin typeface="Aptos"/>
                        </a:rPr>
                        <a:t>参数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3E5FF"/>
                          </a:solidFill>
                          <a:latin typeface="Aptos"/>
                        </a:rPr>
                        <a:t>Nova Watch Lite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3E5FF"/>
                          </a:solidFill>
                          <a:latin typeface="Aptos"/>
                        </a:rPr>
                        <a:t>Nova Watch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3E5FF"/>
                          </a:solidFill>
                          <a:latin typeface="Aptos"/>
                        </a:rPr>
                        <a:t>Nova Watch Pro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定位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轻量日常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全能主力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专业运动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机身材质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铝合金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316L 不锈钢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钛合金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尺寸 / 重量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1.43” / 32 g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1.50” / 41 g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1.50” / 39 g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屏幕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AMOLED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AMOLED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AMOLED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续航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14 天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10 天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18 天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定位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GNSS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双频 GNSS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双频 GNSS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运动模式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100+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120+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150+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防水等级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5 ATM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5 ATM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10 ATM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建议售价</a:t>
                      </a:r>
                    </a:p>
                  </a:txBody>
                  <a:tcPr marL="109728" marR="73152" marT="45720" marB="27432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¥1,299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¥1,899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7B6C9"/>
                          </a:solidFill>
                          <a:latin typeface="Aptos"/>
                        </a:rPr>
                        <a:t>¥2,499</a:t>
                      </a:r>
                    </a:p>
                  </a:txBody>
                  <a:tcPr marL="109728" marR="73152" marT="45720" marB="27432">
                    <a:solidFill>
                      <a:srgbClr val="121D3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062472"/>
            <a:ext cx="103327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A7B6C9"/>
                </a:solidFill>
                <a:latin typeface="Aptos"/>
              </a:rPr>
              <a:t>注：以上为概念发布设定；价格为建议售价占位，实际以上市信息为准。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53E5FF"/>
                </a:solidFill>
                <a:latin typeface="Aptos"/>
              </a:rPr>
              <a:t>06 / NOVA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 Display"/>
              </a:rPr>
              <a:t>从抬腕到行动，Nova OS 让智能体验更连贯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005840" cy="36576"/>
          </a:xfrm>
          <a:prstGeom prst="rect">
            <a:avLst/>
          </a:prstGeom>
          <a:solidFill>
            <a:srgbClr val="5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A7B6C9"/>
                </a:solidFill>
                <a:latin typeface="Aptos"/>
              </a:rPr>
              <a:t>CONCEPT PRODUCT / 概念设定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A7B6C9"/>
                </a:solidFill>
                <a:latin typeface="Aptos"/>
              </a:rPr>
              <a:t>07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2926080" cy="196596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46888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53E5FF"/>
                </a:solidFill>
                <a:latin typeface="Aptos"/>
              </a:rPr>
              <a:t>看见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54680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通知、日程、来电</a:t>
            </a:r>
            <a:br/>
            <a:r>
              <a:rPr sz="1200" b="0">
                <a:solidFill>
                  <a:srgbClr val="F5F8FC"/>
                </a:solidFill>
                <a:latin typeface="Aptos"/>
              </a:rPr>
              <a:t>抬腕即可掌握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3063240"/>
            <a:ext cx="502920" cy="32004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0791" y="2852928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53E5F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148840"/>
            <a:ext cx="2926080" cy="196596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46888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2F80ED"/>
                </a:solidFill>
                <a:latin typeface="Aptos"/>
              </a:rPr>
              <a:t>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154680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快捷回复、语音助手</a:t>
            </a:r>
            <a:br/>
            <a:r>
              <a:rPr sz="1200" b="0">
                <a:solidFill>
                  <a:srgbClr val="F5F8FC"/>
                </a:solidFill>
                <a:latin typeface="Aptos"/>
              </a:rPr>
              <a:t>离线音乐与 NFC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063240"/>
            <a:ext cx="502920" cy="32004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852928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53E5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148840"/>
            <a:ext cx="2926080" cy="196596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46888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B7F36B"/>
                </a:solidFill>
                <a:latin typeface="Aptos"/>
              </a:rPr>
              <a:t>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154680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手机协同、应用生态</a:t>
            </a:r>
            <a:br/>
            <a:r>
              <a:rPr sz="1200" b="0">
                <a:solidFill>
                  <a:srgbClr val="F5F8FC"/>
                </a:solidFill>
                <a:latin typeface="Aptos"/>
              </a:rPr>
              <a:t>把下一步交给手表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956048"/>
            <a:ext cx="1417320" cy="256032"/>
          </a:xfrm>
          <a:prstGeom prst="roundRect">
            <a:avLst/>
          </a:prstGeom>
          <a:solidFill>
            <a:srgbClr val="53E5FF"/>
          </a:solidFill>
          <a:ln w="8890">
            <a:solidFill>
              <a:srgbClr val="53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97196"/>
            <a:ext cx="1417320" cy="1280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53E5FF"/>
                </a:solidFill>
                <a:latin typeface="Aptos"/>
              </a:rPr>
              <a:t>NOVA 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983480"/>
            <a:ext cx="63093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A7B6C9"/>
                </a:solidFill>
                <a:latin typeface="Aptos"/>
              </a:rPr>
              <a:t>把碎片化的智能能力，收束成一次自然的抬腕。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53312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03704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54096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04488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05272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55664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06056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8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6840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57232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07624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58016" y="1874519"/>
            <a:ext cx="22860" cy="4023360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874519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350008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825496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300984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76472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251960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727448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202936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78424"/>
            <a:ext cx="11155680" cy="16459"/>
          </a:xfrm>
          <a:prstGeom prst="rect">
            <a:avLst/>
          </a:prstGeom>
          <a:solidFill>
            <a:srgbClr val="29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53E5FF"/>
                </a:solidFill>
                <a:latin typeface="Aptos"/>
              </a:rPr>
              <a:t>NOVA WATCH / NEXT MOVE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161288"/>
            <a:ext cx="7772400" cy="960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 Display"/>
              </a:rPr>
              <a:t>现在选择你的 Nova，</a:t>
            </a:r>
            <a:br/>
            <a:r>
              <a:rPr sz="3000" b="1">
                <a:solidFill>
                  <a:srgbClr val="F5F8FC"/>
                </a:solidFill>
                <a:latin typeface="Aptos Display"/>
              </a:rPr>
              <a:t>全系今日开启预订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2880360"/>
            <a:ext cx="2057400" cy="118872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3090672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53E5FF"/>
                </a:solidFill>
                <a:latin typeface="Aptos"/>
              </a:rPr>
              <a:t>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345643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¥1,299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44952" y="2880360"/>
            <a:ext cx="2057400" cy="118872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9544" y="3090672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2F80ED"/>
                </a:solidFill>
                <a:latin typeface="Aptos"/>
              </a:rPr>
              <a:t>Nova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9544" y="345643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¥1,899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04104" y="2880360"/>
            <a:ext cx="2057400" cy="118872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68696" y="3090672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B7F36B"/>
                </a:solidFill>
                <a:latin typeface="Aptos"/>
              </a:rPr>
              <a:t>Pro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68696" y="345643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¥2,499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1920240"/>
            <a:ext cx="2971800" cy="347472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233172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预订权益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944368"/>
            <a:ext cx="2148840" cy="10058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A7B6C9"/>
                </a:solidFill>
                <a:latin typeface="Aptos"/>
              </a:rPr>
              <a:t>首发价占位</a:t>
            </a:r>
            <a:br/>
            <a:r>
              <a:rPr sz="1300" b="0">
                <a:solidFill>
                  <a:srgbClr val="A7B6C9"/>
                </a:solidFill>
                <a:latin typeface="Aptos"/>
              </a:rPr>
              <a:t>专属表带占位</a:t>
            </a:r>
            <a:br/>
            <a:r>
              <a:rPr sz="1300" b="0">
                <a:solidFill>
                  <a:srgbClr val="A7B6C9"/>
                </a:solidFill>
                <a:latin typeface="Aptos"/>
              </a:rPr>
              <a:t>延保服务占位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4681728"/>
            <a:ext cx="1554480" cy="256032"/>
          </a:xfrm>
          <a:prstGeom prst="roundRect">
            <a:avLst/>
          </a:prstGeom>
          <a:solidFill>
            <a:srgbClr val="B7F36B"/>
          </a:solidFill>
          <a:ln w="8890">
            <a:solidFill>
              <a:srgbClr val="B7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4722876"/>
            <a:ext cx="1554480" cy="1280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B7F36B"/>
                </a:solidFill>
                <a:latin typeface="Aptos"/>
              </a:rPr>
              <a:t>RESERVE NOW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074920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A7B6C9"/>
                </a:solidFill>
                <a:latin typeface="Aptos"/>
              </a:rPr>
              <a:t>Nova Watch · 让每一次抬腕都更有价值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A7B6C9"/>
                </a:solidFill>
                <a:latin typeface="Aptos"/>
              </a:rPr>
              <a:t>CONCEPT PRODUCT / 概念设定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A7B6C9"/>
                </a:solidFill>
                <a:latin typeface="Aptos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