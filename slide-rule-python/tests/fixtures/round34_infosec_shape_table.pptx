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solidFill>
              <a:srgbClr val="F7F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13456"/>
          </a:solidFill>
          <a:ln>
            <a:solidFill>
              <a:srgbClr val="11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FBE"/>
          </a:solidFill>
          <a:ln>
            <a:solidFill>
              <a:srgbClr val="24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858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7F2FC"/>
                </a:solidFill>
                <a:latin typeface="Microsoft YaHei"/>
              </a:rPr>
              <a:t>NEW JOINER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3383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信息安全
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2461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7F2FC"/>
                </a:solidFill>
                <a:latin typeface="Microsoft YaHei"/>
              </a:rPr>
              <a:t>从第一天开始保护信息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440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3DAF0"/>
                </a:solidFill>
                <a:latin typeface="Microsoft YaHei"/>
              </a:rPr>
              <a:t>全体新员工｜15–20 分钟</a:t>
            </a:r>
          </a:p>
        </p:txBody>
      </p:sp>
      <p:sp>
        <p:nvSpPr>
          <p:cNvPr id="9" name="Oval 8"/>
          <p:cNvSpPr/>
          <p:nvPr/>
        </p:nvSpPr>
        <p:spPr>
          <a:xfrm>
            <a:off x="7498079" y="1508760"/>
            <a:ext cx="1417320" cy="1417320"/>
          </a:xfrm>
          <a:prstGeom prst="ellipse">
            <a:avLst/>
          </a:prstGeom>
          <a:solidFill>
            <a:srgbClr val="246FBE"/>
          </a:solidFill>
          <a:ln>
            <a:solidFill>
              <a:srgbClr val="24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517904"/>
            <a:ext cx="141732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YaHei"/>
              </a:rPr>
              <a:t>盾</a:t>
            </a:r>
          </a:p>
        </p:txBody>
      </p:sp>
      <p:sp>
        <p:nvSpPr>
          <p:cNvPr id="11" name="Oval 10"/>
          <p:cNvSpPr/>
          <p:nvPr/>
        </p:nvSpPr>
        <p:spPr>
          <a:xfrm>
            <a:off x="5989320" y="3429000"/>
            <a:ext cx="731520" cy="731520"/>
          </a:xfrm>
          <a:prstGeom prst="ellipse">
            <a:avLst/>
          </a:prstGeom>
          <a:solidFill>
            <a:srgbClr val="2B845D"/>
          </a:solidFill>
          <a:ln>
            <a:solidFill>
              <a:srgbClr val="2B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343814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人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6355080" y="2926080"/>
            <a:ext cx="1856232" cy="502920"/>
          </a:xfrm>
          <a:prstGeom prst="line">
            <a:avLst/>
          </a:prstGeom>
          <a:ln w="19050">
            <a:solidFill>
              <a:srgbClr val="CFD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498079" y="3886200"/>
            <a:ext cx="731520" cy="731520"/>
          </a:xfrm>
          <a:prstGeom prst="ellipse">
            <a:avLst/>
          </a:prstGeom>
          <a:solidFill>
            <a:srgbClr val="E77E22"/>
          </a:solidFill>
          <a:ln>
            <a:solidFill>
              <a:srgbClr val="E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389534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数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7863840" y="2926080"/>
            <a:ext cx="347472" cy="960120"/>
          </a:xfrm>
          <a:prstGeom prst="line">
            <a:avLst/>
          </a:prstGeom>
          <a:ln w="19050">
            <a:solidFill>
              <a:srgbClr val="CFD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006840" y="3429000"/>
            <a:ext cx="731520" cy="731520"/>
          </a:xfrm>
          <a:prstGeom prst="ellipse">
            <a:avLst/>
          </a:prstGeom>
          <a:solidFill>
            <a:srgbClr val="246FBE"/>
          </a:solidFill>
          <a:ln>
            <a:solidFill>
              <a:srgbClr val="24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343814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设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11312" y="2926080"/>
            <a:ext cx="1161288" cy="502920"/>
          </a:xfrm>
          <a:prstGeom prst="line">
            <a:avLst/>
          </a:prstGeom>
          <a:ln w="19050">
            <a:solidFill>
              <a:srgbClr val="CFD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06440" y="470916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13456"/>
                </a:solidFill>
                <a:latin typeface="Microsoft YaHei"/>
              </a:rPr>
              <a:t>识别风险 · 保护账号 · 守护数据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537667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5B6E80"/>
                </a:solidFill>
                <a:latin typeface="Microsoft YaHei"/>
              </a:rPr>
              <a:t>一套可执行的日常安全习惯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FBE"/>
          </a:solidFill>
          <a:ln>
            <a:solidFill>
              <a:srgbClr val="24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46FBE"/>
                </a:solidFill>
                <a:latin typeface="Microsoft YaHei"/>
              </a:rPr>
              <a:t>01 先建立安全意识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13456"/>
                </a:solidFill>
                <a:latin typeface="Microsoft YaHei"/>
              </a:rPr>
              <a:t>信息安全，和每个人都有关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44168"/>
            <a:ext cx="10972800" cy="10972"/>
          </a:xfrm>
          <a:prstGeom prst="rect">
            <a:avLst/>
          </a:prstGeom>
          <a:solidFill>
            <a:srgbClr val="CFDCE9"/>
          </a:solidFill>
          <a:ln>
            <a:solidFill>
              <a:srgbClr val="CF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E80"/>
                </a:solidFill>
                <a:latin typeface="Microsoft YaHei"/>
              </a:rPr>
              <a:t>02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53443"/>
                </a:solidFill>
                <a:latin typeface="Microsoft YaHei"/>
              </a:rPr>
              <a:t>你每天接触的每一项信息，都可能成为风险入口。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423160"/>
            <a:ext cx="3246120" cy="132588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solidFill>
              <a:srgbClr val="CF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679192"/>
            <a:ext cx="566928" cy="566928"/>
          </a:xfrm>
          <a:prstGeom prst="ellipse">
            <a:avLst/>
          </a:prstGeom>
          <a:solidFill>
            <a:srgbClr val="246FBE"/>
          </a:solidFill>
          <a:ln>
            <a:solidFill>
              <a:srgbClr val="24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68833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6060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3456"/>
                </a:solidFill>
                <a:latin typeface="Microsoft YaHei"/>
              </a:rPr>
              <a:t>账号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97180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E80"/>
                </a:solidFill>
                <a:latin typeface="Microsoft YaHei"/>
              </a:rPr>
              <a:t>登录凭据、邮件、协作工具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2423160"/>
            <a:ext cx="3246120" cy="132588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solidFill>
              <a:srgbClr val="CF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07408" y="2679192"/>
            <a:ext cx="566928" cy="566928"/>
          </a:xfrm>
          <a:prstGeom prst="ellipse">
            <a:avLst/>
          </a:prstGeom>
          <a:solidFill>
            <a:srgbClr val="2B845D"/>
          </a:solidFill>
          <a:ln>
            <a:solidFill>
              <a:srgbClr val="2B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268833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6060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3456"/>
                </a:solidFill>
                <a:latin typeface="Microsoft YaHei"/>
              </a:rPr>
              <a:t>设备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97180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E80"/>
                </a:solidFill>
                <a:latin typeface="Microsoft YaHei"/>
              </a:rPr>
              <a:t>电脑、手机、U 盘、会议屏幕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2423160"/>
            <a:ext cx="3246120" cy="132588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solidFill>
              <a:srgbClr val="CF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19288" y="2679192"/>
            <a:ext cx="566928" cy="566928"/>
          </a:xfrm>
          <a:prstGeom prst="ellipse">
            <a:avLst/>
          </a:prstGeom>
          <a:solidFill>
            <a:srgbClr val="E77E22"/>
          </a:solidFill>
          <a:ln>
            <a:solidFill>
              <a:srgbClr val="E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9288" y="268833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26060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3456"/>
                </a:solidFill>
                <a:latin typeface="Microsoft YaHei"/>
              </a:rPr>
              <a:t>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97180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E80"/>
                </a:solidFill>
                <a:latin typeface="Microsoft YaHei"/>
              </a:rPr>
              <a:t>客户信息、合同、财务与研发资料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343400"/>
            <a:ext cx="10972800" cy="960120"/>
          </a:xfrm>
          <a:prstGeom prst="roundRect">
            <a:avLst>
              <a:gd name="adj" fmla="val 8000"/>
            </a:avLst>
          </a:prstGeom>
          <a:solidFill>
            <a:srgbClr val="E7F2FC"/>
          </a:solidFill>
          <a:ln>
            <a:solidFill>
              <a:srgbClr val="E7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55371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3456"/>
                </a:solidFill>
                <a:latin typeface="Microsoft YaHei"/>
              </a:rPr>
              <a:t>安全事件的后果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52628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BE3A3A"/>
                </a:solidFill>
                <a:latin typeface="Microsoft YaHei"/>
              </a:rPr>
              <a:t>账号被接管  ·  数据泄露  ·  业务中断  ·  信任受损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7150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E80"/>
                </a:solidFill>
                <a:latin typeface="Microsoft YaHei"/>
              </a:rPr>
              <a:t>目标不是记住所有规则，而是在关键时刻知道：先停一下，再核验。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FBE"/>
          </a:solidFill>
          <a:ln>
            <a:solidFill>
              <a:srgbClr val="24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46FBE"/>
                </a:solidFill>
                <a:latin typeface="Microsoft YaHei"/>
              </a:rPr>
              <a:t>02 识别常见攻击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13456"/>
                </a:solidFill>
                <a:latin typeface="Microsoft YaHei"/>
              </a:rPr>
              <a:t>钓鱼邮件：先看信号，再做动作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44168"/>
            <a:ext cx="10972800" cy="10972"/>
          </a:xfrm>
          <a:prstGeom prst="rect">
            <a:avLst/>
          </a:prstGeom>
          <a:solidFill>
            <a:srgbClr val="CFDCE9"/>
          </a:solidFill>
          <a:ln>
            <a:solidFill>
              <a:srgbClr val="CF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E80"/>
                </a:solidFill>
                <a:latin typeface="Microsoft YaHei"/>
              </a:rPr>
              <a:t>03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6492240" cy="416052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solidFill>
              <a:srgbClr val="CF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6492240" cy="502920"/>
          </a:xfrm>
          <a:prstGeom prst="roundRect">
            <a:avLst>
              <a:gd name="adj" fmla="val 8000"/>
            </a:avLst>
          </a:prstGeom>
          <a:solidFill>
            <a:srgbClr val="E7F2FC"/>
          </a:solidFill>
          <a:ln>
            <a:solidFill>
              <a:srgbClr val="E7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856231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3456"/>
                </a:solidFill>
                <a:latin typeface="Microsoft YaHei"/>
              </a:rPr>
              <a:t>邮件预览  ·  需要你立即处理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8716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E80"/>
                </a:solidFill>
                <a:latin typeface="Microsoft YaHei"/>
              </a:rPr>
              <a:t>发件人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487168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E3A3A"/>
                </a:solidFill>
                <a:latin typeface="Microsoft YaHei"/>
              </a:rPr>
              <a:t>support@paypaI-security.example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260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E80"/>
                </a:solidFill>
                <a:latin typeface="Microsoft YaHei"/>
              </a:rPr>
              <a:t>主题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926080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E3A3A"/>
                </a:solidFill>
                <a:latin typeface="Microsoft YaHei"/>
              </a:rPr>
              <a:t>【紧急】账户将在 30 分钟后停用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493008"/>
            <a:ext cx="5349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F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03320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53443"/>
                </a:solidFill>
                <a:latin typeface="Microsoft YaHei"/>
              </a:rPr>
              <a:t>请立即登录验证，否则将无法收发邮件。
点击此处：verify-account.example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56048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77E22"/>
                </a:solidFill>
                <a:latin typeface="Microsoft YaHei"/>
              </a:rPr>
              <a:t>附件：invoice_2025.zip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2057400"/>
            <a:ext cx="40690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F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79" y="2057400"/>
            <a:ext cx="73152" cy="777240"/>
          </a:xfrm>
          <a:prstGeom prst="rect">
            <a:avLst/>
          </a:prstGeom>
          <a:solidFill>
            <a:srgbClr val="BE3A3A"/>
          </a:solidFill>
          <a:ln>
            <a:solidFill>
              <a:srgbClr val="B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18541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3456"/>
                </a:solidFill>
                <a:latin typeface="Microsoft YaHei"/>
              </a:rPr>
              <a:t>异常发件人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45059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E80"/>
                </a:solidFill>
                <a:latin typeface="Microsoft YaHei"/>
              </a:rPr>
              <a:t>域名、拼写或显示名不对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3246120"/>
            <a:ext cx="40690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F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79" y="3246120"/>
            <a:ext cx="73152" cy="777240"/>
          </a:xfrm>
          <a:prstGeom prst="rect">
            <a:avLst/>
          </a:prstGeom>
          <a:solidFill>
            <a:srgbClr val="E77E22"/>
          </a:solidFill>
          <a:ln>
            <a:solidFill>
              <a:srgbClr val="E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337413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3456"/>
                </a:solidFill>
                <a:latin typeface="Microsoft YaHei"/>
              </a:rPr>
              <a:t>制造紧迫感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63931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E80"/>
                </a:solidFill>
                <a:latin typeface="Microsoft YaHei"/>
              </a:rPr>
              <a:t>催促你绕过思考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4434840"/>
            <a:ext cx="40690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F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79" y="4434840"/>
            <a:ext cx="73152" cy="777240"/>
          </a:xfrm>
          <a:prstGeom prst="rect">
            <a:avLst/>
          </a:prstGeom>
          <a:solidFill>
            <a:srgbClr val="246FBE"/>
          </a:solidFill>
          <a:ln>
            <a:solidFill>
              <a:srgbClr val="24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4562855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3456"/>
                </a:solidFill>
                <a:latin typeface="Microsoft YaHei"/>
              </a:rPr>
              <a:t>链接/附件可疑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828031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E80"/>
                </a:solidFill>
                <a:latin typeface="Microsoft YaHei"/>
              </a:rPr>
              <a:t>不明来源，不要打开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FBE"/>
          </a:solidFill>
          <a:ln>
            <a:solidFill>
              <a:srgbClr val="24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46FBE"/>
                </a:solidFill>
                <a:latin typeface="Microsoft YaHei"/>
              </a:rPr>
              <a:t>03 不确定时先暂停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13456"/>
                </a:solidFill>
                <a:latin typeface="Microsoft YaHei"/>
              </a:rPr>
              <a:t>遇到可疑邮件：四步处理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44168"/>
            <a:ext cx="10972800" cy="10972"/>
          </a:xfrm>
          <a:prstGeom prst="rect">
            <a:avLst/>
          </a:prstGeom>
          <a:solidFill>
            <a:srgbClr val="CFDCE9"/>
          </a:solidFill>
          <a:ln>
            <a:solidFill>
              <a:srgbClr val="CF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E80"/>
                </a:solidFill>
                <a:latin typeface="Microsoft YaHei"/>
              </a:rPr>
              <a:t>04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53443"/>
                </a:solidFill>
                <a:latin typeface="Microsoft YaHei"/>
              </a:rPr>
              <a:t>不要让“快一点”替你做决定。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514600"/>
            <a:ext cx="658368" cy="658368"/>
          </a:xfrm>
          <a:prstGeom prst="ellipse">
            <a:avLst/>
          </a:prstGeom>
          <a:solidFill>
            <a:srgbClr val="BE3A3A"/>
          </a:solidFill>
          <a:ln>
            <a:solidFill>
              <a:srgbClr val="B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23744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015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3456"/>
                </a:solidFill>
                <a:latin typeface="Microsoft YaHei"/>
              </a:rPr>
              <a:t>暂停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22191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E80"/>
                </a:solidFill>
                <a:latin typeface="Microsoft YaHei"/>
              </a:rPr>
              <a:t>不点击、不回复、不下载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2834640"/>
            <a:ext cx="1435608" cy="0"/>
          </a:xfrm>
          <a:prstGeom prst="line">
            <a:avLst/>
          </a:prstGeom>
          <a:ln w="25400">
            <a:solidFill>
              <a:srgbClr val="CFD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337560" y="2514600"/>
            <a:ext cx="658368" cy="658368"/>
          </a:xfrm>
          <a:prstGeom prst="ellipse">
            <a:avLst/>
          </a:prstGeom>
          <a:solidFill>
            <a:srgbClr val="246FBE"/>
          </a:solidFill>
          <a:ln>
            <a:solidFill>
              <a:srgbClr val="24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523744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4015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3456"/>
                </a:solidFill>
                <a:latin typeface="Microsoft YaHei"/>
              </a:rPr>
              <a:t>核验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822191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E80"/>
                </a:solidFill>
                <a:latin typeface="Microsoft YaHei"/>
              </a:rPr>
              <a:t>通过官网、电话或已知联系人确认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97680" y="2834640"/>
            <a:ext cx="1435608" cy="0"/>
          </a:xfrm>
          <a:prstGeom prst="line">
            <a:avLst/>
          </a:prstGeom>
          <a:ln w="25400">
            <a:solidFill>
              <a:srgbClr val="CFD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080760" y="2514600"/>
            <a:ext cx="658368" cy="658368"/>
          </a:xfrm>
          <a:prstGeom prst="ellipse">
            <a:avLst/>
          </a:prstGeom>
          <a:solidFill>
            <a:srgbClr val="2B845D"/>
          </a:solidFill>
          <a:ln>
            <a:solidFill>
              <a:srgbClr val="2B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2523744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4015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3456"/>
                </a:solidFill>
                <a:latin typeface="Microsoft YaHei"/>
              </a:rPr>
              <a:t>报告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822191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E80"/>
                </a:solidFill>
                <a:latin typeface="Microsoft YaHei"/>
              </a:rPr>
              <a:t>使用组织规定的举报渠道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40880" y="2834640"/>
            <a:ext cx="1435608" cy="0"/>
          </a:xfrm>
          <a:prstGeom prst="line">
            <a:avLst/>
          </a:prstGeom>
          <a:ln w="25400">
            <a:solidFill>
              <a:srgbClr val="CFD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823960" y="2514600"/>
            <a:ext cx="658368" cy="658368"/>
          </a:xfrm>
          <a:prstGeom prst="ellipse">
            <a:avLst/>
          </a:prstGeom>
          <a:solidFill>
            <a:srgbClr val="E77E22"/>
          </a:solidFill>
          <a:ln>
            <a:solidFill>
              <a:srgbClr val="E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2523744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4015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3456"/>
                </a:solidFill>
                <a:latin typeface="Microsoft YaHei"/>
              </a:rPr>
              <a:t>处置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3822191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E80"/>
                </a:solidFill>
                <a:latin typeface="Microsoft YaHei"/>
              </a:rPr>
              <a:t>误点后立即断开、改密并求助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0749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>
            <a:solidFill>
              <a:srgbClr val="F5D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266944"/>
            <a:ext cx="10424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77E22"/>
                </a:solidFill>
                <a:latin typeface="Microsoft YaHei"/>
              </a:rPr>
              <a:t>误点了怎么办？  立刻停止操作 → 断开网络（如有必要）→ 改变受影响密码 → 尽快报告。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FBE"/>
          </a:solidFill>
          <a:ln>
            <a:solidFill>
              <a:srgbClr val="24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46FBE"/>
                </a:solidFill>
                <a:latin typeface="Microsoft YaHei"/>
              </a:rPr>
              <a:t>04 保护数字身份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13456"/>
                </a:solidFill>
                <a:latin typeface="Microsoft YaHei"/>
              </a:rPr>
              <a:t>密码与账号：长、独特、加验证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44168"/>
            <a:ext cx="10972800" cy="10972"/>
          </a:xfrm>
          <a:prstGeom prst="rect">
            <a:avLst/>
          </a:prstGeom>
          <a:solidFill>
            <a:srgbClr val="CFDCE9"/>
          </a:solidFill>
          <a:ln>
            <a:solidFill>
              <a:srgbClr val="CF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E80"/>
                </a:solidFill>
                <a:latin typeface="Microsoft YaHei"/>
              </a:rPr>
              <a:t>05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53443"/>
                </a:solidFill>
                <a:latin typeface="Microsoft YaHei"/>
              </a:rPr>
              <a:t>把账号当作办公室的钥匙：不要复制，不要外借。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423160"/>
            <a:ext cx="3246120" cy="182880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solidFill>
              <a:srgbClr val="CF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697480"/>
            <a:ext cx="594360" cy="594360"/>
          </a:xfrm>
          <a:prstGeom prst="ellipse">
            <a:avLst/>
          </a:prstGeom>
          <a:solidFill>
            <a:srgbClr val="246FBE"/>
          </a:solidFill>
          <a:ln>
            <a:solidFill>
              <a:srgbClr val="24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06624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12+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697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3456"/>
                </a:solidFill>
                <a:latin typeface="Microsoft YaHei"/>
              </a:rPr>
              <a:t>长而独特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0215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E80"/>
                </a:solidFill>
                <a:latin typeface="Microsoft YaHei"/>
              </a:rPr>
              <a:t>每个重要服务使用不同密码或口令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2423160"/>
            <a:ext cx="3246120" cy="182880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solidFill>
              <a:srgbClr val="CF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4840" y="2697480"/>
            <a:ext cx="594360" cy="594360"/>
          </a:xfrm>
          <a:prstGeom prst="ellipse">
            <a:avLst/>
          </a:prstGeom>
          <a:solidFill>
            <a:srgbClr val="2B845D"/>
          </a:solidFill>
          <a:ln>
            <a:solidFill>
              <a:srgbClr val="2B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706624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697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3456"/>
                </a:solidFill>
                <a:latin typeface="Microsoft YaHei"/>
              </a:rPr>
              <a:t>密码管理器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50215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E80"/>
                </a:solidFill>
                <a:latin typeface="Microsoft YaHei"/>
              </a:rPr>
              <a:t>安全生成并保存复杂密码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2423160"/>
            <a:ext cx="3246120" cy="182880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solidFill>
              <a:srgbClr val="CF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46720" y="2697480"/>
            <a:ext cx="594360" cy="594360"/>
          </a:xfrm>
          <a:prstGeom prst="ellipse">
            <a:avLst/>
          </a:prstGeom>
          <a:solidFill>
            <a:srgbClr val="E77E22"/>
          </a:solidFill>
          <a:ln>
            <a:solidFill>
              <a:srgbClr val="E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2706624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MFA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697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3456"/>
                </a:solidFill>
                <a:latin typeface="Microsoft YaHei"/>
              </a:rPr>
              <a:t>多因素认证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50215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E80"/>
                </a:solidFill>
                <a:latin typeface="Microsoft YaHei"/>
              </a:rPr>
              <a:t>密码之外再加一层验证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4988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46FBE"/>
                </a:solidFill>
                <a:latin typeface="Microsoft YaHei"/>
              </a:rPr>
              <a:t>一眼判断：弱密码容易猜，强密码让攻击者更难下手。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828032"/>
            <a:ext cx="1097280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F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4828032"/>
            <a:ext cx="1874519" cy="1024128"/>
          </a:xfrm>
          <a:prstGeom prst="roundRect">
            <a:avLst>
              <a:gd name="adj" fmla="val 8000"/>
            </a:avLst>
          </a:prstGeom>
          <a:solidFill>
            <a:srgbClr val="E7F2FC"/>
          </a:solidFill>
          <a:ln>
            <a:solidFill>
              <a:srgbClr val="E7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14807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13456"/>
                </a:solidFill>
                <a:latin typeface="Microsoft YaHei"/>
              </a:rPr>
              <a:t>对比维度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68880" y="4828032"/>
            <a:ext cx="4069080" cy="1024128"/>
          </a:xfrm>
          <a:prstGeom prst="roundRect">
            <a:avLst>
              <a:gd name="adj" fmla="val 8000"/>
            </a:avLst>
          </a:prstGeom>
          <a:solidFill>
            <a:srgbClr val="FFF5EB"/>
          </a:solidFill>
          <a:ln>
            <a:solidFill>
              <a:srgbClr val="F5D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97480" y="5020056"/>
            <a:ext cx="3611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BE3A3A"/>
                </a:solidFill>
                <a:latin typeface="Microsoft YaHei"/>
              </a:rPr>
              <a:t>弱密码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5321808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E80"/>
                </a:solidFill>
                <a:latin typeface="Microsoft YaHei"/>
              </a:rPr>
              <a:t>短、常见、重复使用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4828032"/>
            <a:ext cx="4937760" cy="1024128"/>
          </a:xfrm>
          <a:prstGeom prst="roundRect">
            <a:avLst>
              <a:gd name="adj" fmla="val 8000"/>
            </a:avLst>
          </a:prstGeom>
          <a:solidFill>
            <a:srgbClr val="EBF8F2"/>
          </a:solidFill>
          <a:ln>
            <a:solidFill>
              <a:srgbClr val="BCE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5020056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2B845D"/>
                </a:solidFill>
                <a:latin typeface="Microsoft YaHei"/>
              </a:rPr>
              <a:t>强密码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321808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E80"/>
                </a:solidFill>
                <a:latin typeface="Microsoft YaHei"/>
              </a:rPr>
              <a:t>长、独特、由管理器生成并保存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053328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BE3A3A"/>
                </a:solidFill>
                <a:latin typeface="Microsoft YaHei"/>
              </a:rPr>
              <a:t>不要共享密码、跨服务复用密码，或把验证码告诉任何人。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FBE"/>
          </a:solidFill>
          <a:ln>
            <a:solidFill>
              <a:srgbClr val="24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46FBE"/>
                </a:solidFill>
                <a:latin typeface="Microsoft YaHei"/>
              </a:rPr>
              <a:t>05 保护工作环境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13456"/>
                </a:solidFill>
                <a:latin typeface="Microsoft YaHei"/>
              </a:rPr>
              <a:t>设备安全：离开座位，也要锁住信息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44168"/>
            <a:ext cx="10972800" cy="10972"/>
          </a:xfrm>
          <a:prstGeom prst="rect">
            <a:avLst/>
          </a:prstGeom>
          <a:solidFill>
            <a:srgbClr val="CFDCE9"/>
          </a:solidFill>
          <a:ln>
            <a:solidFill>
              <a:srgbClr val="CF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E80"/>
                </a:solidFill>
                <a:latin typeface="Microsoft YaHei"/>
              </a:rPr>
              <a:t>06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3443"/>
                </a:solidFill>
                <a:latin typeface="Microsoft YaHei"/>
              </a:rPr>
              <a:t>每天都做的 5 件事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240280"/>
            <a:ext cx="310896" cy="310896"/>
          </a:xfrm>
          <a:prstGeom prst="ellipse">
            <a:avLst/>
          </a:prstGeom>
          <a:solidFill>
            <a:srgbClr val="2B845D"/>
          </a:solidFill>
          <a:ln>
            <a:solidFill>
              <a:srgbClr val="2B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2494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276856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53443"/>
                </a:solidFill>
                <a:latin typeface="Microsoft YaHei"/>
              </a:rPr>
              <a:t>离开座位立即锁屏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807208"/>
            <a:ext cx="310896" cy="310896"/>
          </a:xfrm>
          <a:prstGeom prst="ellipse">
            <a:avLst/>
          </a:prstGeom>
          <a:solidFill>
            <a:srgbClr val="2B845D"/>
          </a:solidFill>
          <a:ln>
            <a:solidFill>
              <a:srgbClr val="2B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81635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2843784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53443"/>
                </a:solidFill>
                <a:latin typeface="Microsoft YaHei"/>
              </a:rPr>
              <a:t>及时安装系统和软件更新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3374136"/>
            <a:ext cx="310896" cy="310896"/>
          </a:xfrm>
          <a:prstGeom prst="ellipse">
            <a:avLst/>
          </a:prstGeom>
          <a:solidFill>
            <a:srgbClr val="2B845D"/>
          </a:solidFill>
          <a:ln>
            <a:solidFill>
              <a:srgbClr val="2B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38328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410712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53443"/>
                </a:solidFill>
                <a:latin typeface="Microsoft YaHei"/>
              </a:rPr>
              <a:t>只安装可信来源的软件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3941064"/>
            <a:ext cx="310896" cy="310896"/>
          </a:xfrm>
          <a:prstGeom prst="ellipse">
            <a:avLst/>
          </a:prstGeom>
          <a:solidFill>
            <a:srgbClr val="2B845D"/>
          </a:solidFill>
          <a:ln>
            <a:solidFill>
              <a:srgbClr val="2B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95020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977640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53443"/>
                </a:solidFill>
                <a:latin typeface="Microsoft YaHei"/>
              </a:rPr>
              <a:t>公共 Wi-Fi 下谨慎处理敏感工作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" y="4507992"/>
            <a:ext cx="310896" cy="310896"/>
          </a:xfrm>
          <a:prstGeom prst="ellipse">
            <a:avLst/>
          </a:prstGeom>
          <a:solidFill>
            <a:srgbClr val="2B845D"/>
          </a:solidFill>
          <a:ln>
            <a:solidFill>
              <a:srgbClr val="2B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51713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544568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53443"/>
                </a:solidFill>
                <a:latin typeface="Microsoft YaHei"/>
              </a:rPr>
              <a:t>设备或 U 盘遗失，马上报告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1828800"/>
            <a:ext cx="5029200" cy="3383280"/>
          </a:xfrm>
          <a:prstGeom prst="roundRect">
            <a:avLst>
              <a:gd name="adj" fmla="val 8000"/>
            </a:avLst>
          </a:prstGeom>
          <a:solidFill>
            <a:srgbClr val="E7F2FC"/>
          </a:solidFill>
          <a:ln>
            <a:solidFill>
              <a:srgbClr val="E7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0" y="2423160"/>
            <a:ext cx="3291840" cy="1965960"/>
          </a:xfrm>
          <a:prstGeom prst="roundRect">
            <a:avLst>
              <a:gd name="adj" fmla="val 8000"/>
            </a:avLst>
          </a:prstGeom>
          <a:solidFill>
            <a:srgbClr val="113456"/>
          </a:solidFill>
          <a:ln>
            <a:solidFill>
              <a:srgbClr val="11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99248" y="2724912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68512" y="2971800"/>
            <a:ext cx="658368" cy="658368"/>
          </a:xfrm>
          <a:prstGeom prst="ellipse">
            <a:avLst/>
          </a:prstGeom>
          <a:solidFill>
            <a:srgbClr val="246FBE"/>
          </a:solidFill>
          <a:ln>
            <a:solidFill>
              <a:srgbClr val="24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2" y="2980944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822191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3456"/>
                </a:solidFill>
                <a:latin typeface="Microsoft YaHei"/>
              </a:rPr>
              <a:t>屏幕已锁定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1080" y="4434840"/>
            <a:ext cx="822960" cy="109728"/>
          </a:xfrm>
          <a:prstGeom prst="rect">
            <a:avLst/>
          </a:prstGeom>
          <a:solidFill>
            <a:srgbClr val="113456"/>
          </a:solidFill>
          <a:ln>
            <a:solidFill>
              <a:srgbClr val="11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18120" y="4599432"/>
            <a:ext cx="2468880" cy="109728"/>
          </a:xfrm>
          <a:prstGeom prst="rect">
            <a:avLst/>
          </a:prstGeom>
          <a:solidFill>
            <a:srgbClr val="113456"/>
          </a:solidFill>
          <a:ln>
            <a:solidFill>
              <a:srgbClr val="11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56235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B6E80"/>
                </a:solidFill>
                <a:latin typeface="Microsoft YaHei"/>
              </a:rPr>
              <a:t>设备是数据的载体，也是防线。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FBE"/>
          </a:solidFill>
          <a:ln>
            <a:solidFill>
              <a:srgbClr val="24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46FBE"/>
                </a:solidFill>
                <a:latin typeface="Microsoft YaHei"/>
              </a:rPr>
              <a:t>06 正确处理信息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13456"/>
                </a:solidFill>
                <a:latin typeface="Microsoft YaHei"/>
              </a:rPr>
              <a:t>数据保护：知道什么能看、能发、能留多久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44168"/>
            <a:ext cx="10972800" cy="10972"/>
          </a:xfrm>
          <a:prstGeom prst="rect">
            <a:avLst/>
          </a:prstGeom>
          <a:solidFill>
            <a:srgbClr val="CFDCE9"/>
          </a:solidFill>
          <a:ln>
            <a:solidFill>
              <a:srgbClr val="CF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E80"/>
                </a:solidFill>
                <a:latin typeface="Microsoft YaHei"/>
              </a:rPr>
              <a:t>07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53443"/>
                </a:solidFill>
                <a:latin typeface="Microsoft YaHei"/>
              </a:rPr>
              <a:t>先判断敏感程度，再选择存储、共享和销毁方式。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331720"/>
            <a:ext cx="324612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F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2331720"/>
            <a:ext cx="3246120" cy="146304"/>
          </a:xfrm>
          <a:prstGeom prst="roundRect">
            <a:avLst>
              <a:gd name="adj" fmla="val 8000"/>
            </a:avLst>
          </a:prstGeom>
          <a:solidFill>
            <a:srgbClr val="2B845D"/>
          </a:solidFill>
          <a:ln>
            <a:solidFill>
              <a:srgbClr val="2B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B845D"/>
                </a:solidFill>
                <a:latin typeface="Microsoft YaHei"/>
              </a:rPr>
              <a:t>公开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90672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E80"/>
                </a:solidFill>
                <a:latin typeface="Microsoft YaHei"/>
              </a:rPr>
              <a:t>可对外分享
例如：公开宣传材料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331720"/>
            <a:ext cx="324612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F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06240" y="2331720"/>
            <a:ext cx="3246120" cy="146304"/>
          </a:xfrm>
          <a:prstGeom prst="roundRect">
            <a:avLst>
              <a:gd name="adj" fmla="val 8000"/>
            </a:avLst>
          </a:prstGeom>
          <a:solidFill>
            <a:srgbClr val="246FBE"/>
          </a:solidFill>
          <a:ln>
            <a:solidFill>
              <a:srgbClr val="24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6517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46FBE"/>
                </a:solidFill>
                <a:latin typeface="Microsoft YaHei"/>
              </a:rPr>
              <a:t>内部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090672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E80"/>
                </a:solidFill>
                <a:latin typeface="Microsoft YaHei"/>
              </a:rPr>
              <a:t>仅工作需要
例如：流程、会议资料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2331720"/>
            <a:ext cx="324612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F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18120" y="2331720"/>
            <a:ext cx="3246120" cy="146304"/>
          </a:xfrm>
          <a:prstGeom prst="roundRect">
            <a:avLst>
              <a:gd name="adj" fmla="val 8000"/>
            </a:avLst>
          </a:prstGeom>
          <a:solidFill>
            <a:srgbClr val="BE3A3A"/>
          </a:solidFill>
          <a:ln>
            <a:solidFill>
              <a:srgbClr val="B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6517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BE3A3A"/>
                </a:solidFill>
                <a:latin typeface="Microsoft YaHei"/>
              </a:rPr>
              <a:t>敏感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090672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E80"/>
                </a:solidFill>
                <a:latin typeface="Microsoft YaHei"/>
              </a:rPr>
              <a:t>严格控制
例如：客户、财务、研发数据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224528"/>
            <a:ext cx="10972800" cy="114300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solidFill>
              <a:srgbClr val="CF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46227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3456"/>
                </a:solidFill>
                <a:latin typeface="Microsoft YaHei"/>
              </a:rPr>
              <a:t>最小权限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86460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E80"/>
                </a:solidFill>
                <a:latin typeface="Microsoft YaHei"/>
              </a:rPr>
              <a:t>只访问完成工作所需的信息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46227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3456"/>
                </a:solidFill>
                <a:latin typeface="Microsoft YaHei"/>
              </a:rPr>
              <a:t>正确共享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86460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E80"/>
                </a:solidFill>
                <a:latin typeface="Microsoft YaHei"/>
              </a:rPr>
              <a:t>核对收件人、权限和链接范围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446227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3456"/>
                </a:solidFill>
                <a:latin typeface="Microsoft YaHei"/>
              </a:rPr>
              <a:t>清理痕迹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486460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E80"/>
                </a:solidFill>
                <a:latin typeface="Microsoft YaHei"/>
              </a:rPr>
              <a:t>桌面、屏幕、打印件及时清理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71500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77E22"/>
                </a:solidFill>
                <a:latin typeface="Microsoft YaHei"/>
              </a:rPr>
              <a:t>不确定能否发送或保存时，先暂停并向负责人或官方渠道确认。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FBE"/>
          </a:solidFill>
          <a:ln>
            <a:solidFill>
              <a:srgbClr val="24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46FBE"/>
                </a:solidFill>
                <a:latin typeface="Microsoft YaHei"/>
              </a:rPr>
              <a:t>07 带走四个动作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13456"/>
                </a:solidFill>
                <a:latin typeface="Microsoft YaHei"/>
              </a:rPr>
              <a:t>最后自测：停一下，核验，保护，报告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44168"/>
            <a:ext cx="10972800" cy="10972"/>
          </a:xfrm>
          <a:prstGeom prst="rect">
            <a:avLst/>
          </a:prstGeom>
          <a:solidFill>
            <a:srgbClr val="CFDCE9"/>
          </a:solidFill>
          <a:ln>
            <a:solidFill>
              <a:srgbClr val="CF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E80"/>
                </a:solidFill>
                <a:latin typeface="Microsoft YaHei"/>
              </a:rPr>
              <a:t>08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53443"/>
                </a:solidFill>
                <a:latin typeface="Microsoft YaHei"/>
              </a:rPr>
              <a:t>下面三个场景，你会怎么做？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240280"/>
            <a:ext cx="420624" cy="420624"/>
          </a:xfrm>
          <a:prstGeom prst="ellipse">
            <a:avLst/>
          </a:prstGeom>
          <a:solidFill>
            <a:srgbClr val="BE3A3A"/>
          </a:solidFill>
          <a:ln>
            <a:solidFill>
              <a:srgbClr val="BE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24942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67712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3443"/>
                </a:solidFill>
                <a:latin typeface="Microsoft YaHei"/>
              </a:rPr>
              <a:t>收到“立即付款”的邮件，但发件人地址有细微拼写差异。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267712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E80"/>
                </a:solidFill>
                <a:latin typeface="Microsoft YaHei"/>
              </a:rPr>
              <a:t>不点击，先通过已知渠道核验并报告。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3154680"/>
            <a:ext cx="420624" cy="420624"/>
          </a:xfrm>
          <a:prstGeom prst="ellipse">
            <a:avLst/>
          </a:prstGeom>
          <a:solidFill>
            <a:srgbClr val="246FBE"/>
          </a:solidFill>
          <a:ln>
            <a:solidFill>
              <a:srgbClr val="24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16382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82112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3443"/>
                </a:solidFill>
                <a:latin typeface="Microsoft YaHei"/>
              </a:rPr>
              <a:t>同事临时借用你的账号登录系统。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182112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E80"/>
                </a:solidFill>
                <a:latin typeface="Microsoft YaHei"/>
              </a:rPr>
              <a:t>拒绝共享账号，使用各自的权限和账号。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069080"/>
            <a:ext cx="420624" cy="420624"/>
          </a:xfrm>
          <a:prstGeom prst="ellipse">
            <a:avLst/>
          </a:prstGeom>
          <a:solidFill>
            <a:srgbClr val="E77E22"/>
          </a:solidFill>
          <a:ln>
            <a:solidFill>
              <a:srgbClr val="E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07822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096512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3443"/>
                </a:solidFill>
                <a:latin typeface="Microsoft YaHei"/>
              </a:rPr>
              <a:t>在咖啡店连接 Wi-Fi，准备上传客户名单。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4096512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E80"/>
                </a:solidFill>
                <a:latin typeface="Microsoft YaHei"/>
              </a:rPr>
              <a:t>停止上传，改用可信网络和批准的存储方式。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3035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113456"/>
          </a:solidFill>
          <a:ln>
            <a:solidFill>
              <a:srgbClr val="11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504688"/>
            <a:ext cx="10424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停一下  ·  核验  ·  保护  ·  报告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217920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E80"/>
                </a:solidFill>
                <a:latin typeface="Microsoft YaHei"/>
              </a:rPr>
              <a:t>安全不是额外任务，而是每一次点击前的一个好习惯。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