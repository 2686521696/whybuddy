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5"/>
          </a:solidFill>
          <a:ln>
            <a:solidFill>
              <a:srgbClr val="12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169C4"/>
          </a:solidFill>
          <a:ln>
            <a:solidFill>
              <a:srgbClr val="316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" cy="1115568"/>
          </a:xfrm>
          <a:prstGeom prst="rect">
            <a:avLst/>
          </a:prstGeom>
          <a:solidFill>
            <a:srgbClr val="37ABC0"/>
          </a:solidFill>
          <a:ln>
            <a:solidFill>
              <a:srgbClr val="37A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024128"/>
            <a:ext cx="36576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37ABC0"/>
                </a:solidFill>
                <a:latin typeface="Aptos"/>
              </a:rPr>
              <a:t>产品与增长团队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8046720" cy="1417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2026 年第三季度
产品复盘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127248"/>
            <a:ext cx="45720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0">
                <a:solidFill>
                  <a:srgbClr val="B7C9E2"/>
                </a:solidFill>
                <a:latin typeface="Aptos"/>
              </a:rPr>
              <a:t>稳增长 · 提效率 · 补短板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" y="5120640"/>
            <a:ext cx="2926080" cy="384048"/>
          </a:xfrm>
          <a:prstGeom prst="rect">
            <a:avLst/>
          </a:prstGeom>
          <a:solidFill>
            <a:srgbClr val="233752"/>
          </a:solidFill>
          <a:ln>
            <a:solidFill>
              <a:srgbClr val="23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5212080"/>
            <a:ext cx="256032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00" b="0">
                <a:solidFill>
                  <a:srgbClr val="BECCE0"/>
                </a:solidFill>
                <a:latin typeface="Aptos"/>
              </a:rPr>
              <a:t>示例数据｜内部复盘材料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5560" y="5669280"/>
            <a:ext cx="123444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200" b="1">
                <a:solidFill>
                  <a:srgbClr val="BECCE0"/>
                </a:solidFill>
                <a:latin typeface="Aptos"/>
              </a:rPr>
              <a:t>Q3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00" b="1">
                <a:solidFill>
                  <a:srgbClr val="3169C4"/>
                </a:solidFill>
                <a:latin typeface="Aptos"/>
              </a:rPr>
              <a:t>01 / 开篇结论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69848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121F35"/>
                </a:solidFill>
                <a:latin typeface="Aptos"/>
              </a:rPr>
              <a:t>产品进入“稳增长、提效率”阶段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3327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677489"/>
                </a:solidFill>
                <a:latin typeface="Aptos"/>
              </a:rPr>
              <a:t>核心指标整体向好，但增长质量与交付节奏仍需改善。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74519"/>
            <a:ext cx="6766560" cy="3520440"/>
          </a:xfrm>
          <a:prstGeom prst="roundRect">
            <a:avLst>
              <a:gd name="adj" fmla="val 8000"/>
            </a:avLst>
          </a:prstGeom>
          <a:solidFill>
            <a:srgbClr val="121F35"/>
          </a:solidFill>
          <a:ln>
            <a:solidFill>
              <a:srgbClr val="12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1828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37ABC0"/>
                </a:solidFill>
                <a:latin typeface="Aptos"/>
              </a:rPr>
              <a:t>一句话判断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15184"/>
            <a:ext cx="5669280" cy="1325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增长已经被验证，
下一阶段要把“做得更多”
转为“做得更准”。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736592"/>
            <a:ext cx="58064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BECCE0"/>
                </a:solidFill>
                <a:latin typeface="Aptos"/>
              </a:rPr>
              <a:t>Q3 的主线：扩大有效使用 → 提升核心转化 → 建立持续交付机制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874519"/>
            <a:ext cx="3822191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121408"/>
            <a:ext cx="109728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677489"/>
                </a:solidFill>
                <a:latin typeface="Aptos"/>
              </a:rPr>
              <a:t>业务信号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5560" y="2057400"/>
            <a:ext cx="9144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800" b="1">
                <a:solidFill>
                  <a:srgbClr val="31956B"/>
                </a:solidFill>
                <a:latin typeface="Aptos"/>
              </a:rPr>
              <a:t>正向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3108960"/>
            <a:ext cx="3822191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3355848"/>
            <a:ext cx="109728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677489"/>
                </a:solidFill>
                <a:latin typeface="Aptos"/>
              </a:rPr>
              <a:t>主要矛盾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3310128"/>
            <a:ext cx="18288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800" b="1">
                <a:solidFill>
                  <a:srgbClr val="EC8B3E"/>
                </a:solidFill>
                <a:latin typeface="Aptos"/>
              </a:rPr>
              <a:t>增长质量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4343400"/>
            <a:ext cx="3822191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4590288"/>
            <a:ext cx="13716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677489"/>
                </a:solidFill>
                <a:latin typeface="Aptos"/>
              </a:rPr>
              <a:t>下季度关键词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4572000"/>
            <a:ext cx="256032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600" b="1">
                <a:solidFill>
                  <a:srgbClr val="3169C4"/>
                </a:solidFill>
                <a:latin typeface="Aptos"/>
              </a:rPr>
              <a:t>聚焦 / 分层 / 节奏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47104"/>
            <a:ext cx="27432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677489"/>
                </a:solidFill>
                <a:latin typeface="Aptos"/>
              </a:rPr>
              <a:t>示例数据｜2026 Q3 产品复盘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0">
                <a:solidFill>
                  <a:srgbClr val="677489"/>
                </a:solidFill>
                <a:latin typeface="Aptos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00" b="1">
                <a:solidFill>
                  <a:srgbClr val="3169C4"/>
                </a:solidFill>
                <a:latin typeface="Aptos"/>
              </a:rPr>
              <a:t>02 / 关键指标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69848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121F35"/>
                </a:solidFill>
                <a:latin typeface="Aptos"/>
              </a:rPr>
              <a:t>月活用户 MAU：128 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3327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677489"/>
                </a:solidFill>
                <a:latin typeface="Aptos"/>
              </a:rPr>
              <a:t>规模增长跑在前面，连续三个月保持上行。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74519"/>
            <a:ext cx="278892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40280"/>
            <a:ext cx="9144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677489"/>
                </a:solidFill>
                <a:latin typeface="Aptos"/>
              </a:rPr>
              <a:t>MAU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33472"/>
            <a:ext cx="219456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3200" b="1">
                <a:solidFill>
                  <a:srgbClr val="121F35"/>
                </a:solidFill>
                <a:latin typeface="Aptos"/>
              </a:rPr>
              <a:t>128 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383280"/>
            <a:ext cx="164592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1">
                <a:solidFill>
                  <a:srgbClr val="31956B"/>
                </a:solidFill>
                <a:latin typeface="Aptos"/>
              </a:rPr>
              <a:t>环比 +18%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4023360"/>
            <a:ext cx="20116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677489"/>
                </a:solidFill>
                <a:latin typeface="Aptos"/>
              </a:rPr>
              <a:t>较 Q2 末新增约 19.5 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" y="4800600"/>
            <a:ext cx="2057400" cy="137160"/>
          </a:xfrm>
          <a:prstGeom prst="rect">
            <a:avLst/>
          </a:prstGeom>
          <a:solidFill>
            <a:srgbClr val="E8EFF9"/>
          </a:solidFill>
          <a:ln>
            <a:solidFill>
              <a:srgbClr val="E8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0976" y="4800600"/>
            <a:ext cx="1600200" cy="137160"/>
          </a:xfrm>
          <a:prstGeom prst="rect">
            <a:avLst/>
          </a:prstGeom>
          <a:solidFill>
            <a:srgbClr val="3169C4"/>
          </a:solidFill>
          <a:ln>
            <a:solidFill>
              <a:srgbClr val="316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5047488"/>
            <a:ext cx="21031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0">
                <a:solidFill>
                  <a:srgbClr val="677489"/>
                </a:solidFill>
                <a:latin typeface="Aptos"/>
              </a:rPr>
              <a:t>目标达成率 106%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1874519"/>
            <a:ext cx="781812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6512" y="2212848"/>
            <a:ext cx="22860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677489"/>
                </a:solidFill>
                <a:latin typeface="Aptos"/>
              </a:rPr>
              <a:t>月活趋势（万人）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60520" y="4800600"/>
            <a:ext cx="6949440" cy="0"/>
          </a:xfrm>
          <a:prstGeom prst="line">
            <a:avLst/>
          </a:prstGeom>
          <a:ln w="1270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160520" y="2788920"/>
            <a:ext cx="0" cy="2011680"/>
          </a:xfrm>
          <a:prstGeom prst="line">
            <a:avLst/>
          </a:prstGeom>
          <a:ln w="1270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343400" y="3520440"/>
            <a:ext cx="0" cy="0"/>
          </a:xfrm>
          <a:prstGeom prst="line">
            <a:avLst/>
          </a:prstGeom>
          <a:ln w="12700">
            <a:solidFill>
              <a:srgbClr val="316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270248" y="3447288"/>
            <a:ext cx="146304" cy="146304"/>
          </a:xfrm>
          <a:prstGeom prst="roundRect">
            <a:avLst>
              <a:gd name="adj" fmla="val 8000"/>
            </a:avLst>
          </a:prstGeom>
          <a:solidFill>
            <a:srgbClr val="3169C4"/>
          </a:solidFill>
          <a:ln>
            <a:solidFill>
              <a:srgbClr val="316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3127248"/>
            <a:ext cx="4572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00" b="1">
                <a:solidFill>
                  <a:srgbClr val="121F35"/>
                </a:solidFill>
                <a:latin typeface="Aptos"/>
              </a:rPr>
              <a:t>98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919472"/>
            <a:ext cx="4572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00" b="0">
                <a:solidFill>
                  <a:srgbClr val="677489"/>
                </a:solidFill>
                <a:latin typeface="Aptos"/>
              </a:rPr>
              <a:t>4月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577840" y="3455125"/>
            <a:ext cx="0" cy="0"/>
          </a:xfrm>
          <a:prstGeom prst="line">
            <a:avLst/>
          </a:prstGeom>
          <a:ln w="12700">
            <a:solidFill>
              <a:srgbClr val="316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504688" y="3381973"/>
            <a:ext cx="146304" cy="146304"/>
          </a:xfrm>
          <a:prstGeom prst="roundRect">
            <a:avLst>
              <a:gd name="adj" fmla="val 8000"/>
            </a:avLst>
          </a:prstGeom>
          <a:solidFill>
            <a:srgbClr val="3169C4"/>
          </a:solidFill>
          <a:ln>
            <a:solidFill>
              <a:srgbClr val="316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9240" y="3061933"/>
            <a:ext cx="4572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00" b="1">
                <a:solidFill>
                  <a:srgbClr val="121F35"/>
                </a:solidFill>
                <a:latin typeface="Aptos"/>
              </a:rPr>
              <a:t>103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4919472"/>
            <a:ext cx="4572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00" b="0">
                <a:solidFill>
                  <a:srgbClr val="677489"/>
                </a:solidFill>
                <a:latin typeface="Aptos"/>
              </a:rPr>
              <a:t>5月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12280" y="3389811"/>
            <a:ext cx="0" cy="0"/>
          </a:xfrm>
          <a:prstGeom prst="line">
            <a:avLst/>
          </a:prstGeom>
          <a:ln w="12700">
            <a:solidFill>
              <a:srgbClr val="316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739128" y="3316659"/>
            <a:ext cx="146304" cy="146304"/>
          </a:xfrm>
          <a:prstGeom prst="roundRect">
            <a:avLst>
              <a:gd name="adj" fmla="val 8000"/>
            </a:avLst>
          </a:prstGeom>
          <a:solidFill>
            <a:srgbClr val="3169C4"/>
          </a:solidFill>
          <a:ln>
            <a:solidFill>
              <a:srgbClr val="316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996619"/>
            <a:ext cx="4572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00" b="1">
                <a:solidFill>
                  <a:srgbClr val="121F35"/>
                </a:solidFill>
                <a:latin typeface="Aptos"/>
              </a:rPr>
              <a:t>108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919472"/>
            <a:ext cx="4572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00" b="0">
                <a:solidFill>
                  <a:srgbClr val="677489"/>
                </a:solidFill>
                <a:latin typeface="Aptos"/>
              </a:rPr>
              <a:t>6月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46720" y="3337560"/>
            <a:ext cx="0" cy="0"/>
          </a:xfrm>
          <a:prstGeom prst="line">
            <a:avLst/>
          </a:prstGeom>
          <a:ln w="12700">
            <a:solidFill>
              <a:srgbClr val="316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973568" y="3264408"/>
            <a:ext cx="146304" cy="146304"/>
          </a:xfrm>
          <a:prstGeom prst="roundRect">
            <a:avLst>
              <a:gd name="adj" fmla="val 8000"/>
            </a:avLst>
          </a:prstGeom>
          <a:solidFill>
            <a:srgbClr val="3169C4"/>
          </a:solidFill>
          <a:ln>
            <a:solidFill>
              <a:srgbClr val="316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2944368"/>
            <a:ext cx="4572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00" b="1">
                <a:solidFill>
                  <a:srgbClr val="121F35"/>
                </a:solidFill>
                <a:latin typeface="Aptos"/>
              </a:rPr>
              <a:t>112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919472"/>
            <a:ext cx="4572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00" b="0">
                <a:solidFill>
                  <a:srgbClr val="677489"/>
                </a:solidFill>
                <a:latin typeface="Aptos"/>
              </a:rPr>
              <a:t>7月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81160" y="3259182"/>
            <a:ext cx="0" cy="0"/>
          </a:xfrm>
          <a:prstGeom prst="line">
            <a:avLst/>
          </a:prstGeom>
          <a:ln w="12700">
            <a:solidFill>
              <a:srgbClr val="316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208008" y="3186030"/>
            <a:ext cx="146304" cy="146304"/>
          </a:xfrm>
          <a:prstGeom prst="roundRect">
            <a:avLst>
              <a:gd name="adj" fmla="val 8000"/>
            </a:avLst>
          </a:prstGeom>
          <a:solidFill>
            <a:srgbClr val="3169C4"/>
          </a:solidFill>
          <a:ln>
            <a:solidFill>
              <a:srgbClr val="316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865990"/>
            <a:ext cx="4572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00" b="1">
                <a:solidFill>
                  <a:srgbClr val="121F35"/>
                </a:solidFill>
                <a:latin typeface="Aptos"/>
              </a:rPr>
              <a:t>118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4919472"/>
            <a:ext cx="4572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00" b="0">
                <a:solidFill>
                  <a:srgbClr val="677489"/>
                </a:solidFill>
                <a:latin typeface="Aptos"/>
              </a:rPr>
              <a:t>8月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515600" y="3128554"/>
            <a:ext cx="0" cy="0"/>
          </a:xfrm>
          <a:prstGeom prst="line">
            <a:avLst/>
          </a:prstGeom>
          <a:ln w="12700">
            <a:solidFill>
              <a:srgbClr val="316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442448" y="3055402"/>
            <a:ext cx="146304" cy="146304"/>
          </a:xfrm>
          <a:prstGeom prst="roundRect">
            <a:avLst>
              <a:gd name="adj" fmla="val 8000"/>
            </a:avLst>
          </a:prstGeom>
          <a:solidFill>
            <a:srgbClr val="3169C4"/>
          </a:solidFill>
          <a:ln>
            <a:solidFill>
              <a:srgbClr val="316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7000" y="2735362"/>
            <a:ext cx="4572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00" b="1">
                <a:solidFill>
                  <a:srgbClr val="121F35"/>
                </a:solidFill>
                <a:latin typeface="Aptos"/>
              </a:rPr>
              <a:t>128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4919472"/>
            <a:ext cx="4572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00" b="0">
                <a:solidFill>
                  <a:srgbClr val="677489"/>
                </a:solidFill>
                <a:latin typeface="Aptos"/>
              </a:rPr>
              <a:t>9月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160520" y="2788920"/>
            <a:ext cx="6949440" cy="0"/>
          </a:xfrm>
          <a:prstGeom prst="line">
            <a:avLst/>
          </a:prstGeom>
          <a:ln w="7620">
            <a:solidFill>
              <a:srgbClr val="EFF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60520" y="3291839"/>
            <a:ext cx="6949440" cy="0"/>
          </a:xfrm>
          <a:prstGeom prst="line">
            <a:avLst/>
          </a:prstGeom>
          <a:ln w="7620">
            <a:solidFill>
              <a:srgbClr val="EFF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60520" y="3794760"/>
            <a:ext cx="6949440" cy="0"/>
          </a:xfrm>
          <a:prstGeom prst="line">
            <a:avLst/>
          </a:prstGeom>
          <a:ln w="7620">
            <a:solidFill>
              <a:srgbClr val="EFF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160520" y="4297680"/>
            <a:ext cx="6949440" cy="0"/>
          </a:xfrm>
          <a:prstGeom prst="line">
            <a:avLst/>
          </a:prstGeom>
          <a:ln w="7620">
            <a:solidFill>
              <a:srgbClr val="EFF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096512" y="5102352"/>
            <a:ext cx="690372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1F2B3D"/>
                </a:solidFill>
                <a:latin typeface="Aptos"/>
              </a:rPr>
              <a:t>解读：拉新与回流共同驱动增长，但仍需观察新增用户的留存质量。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48640" y="6547104"/>
            <a:ext cx="27432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677489"/>
                </a:solidFill>
                <a:latin typeface="Aptos"/>
              </a:rPr>
              <a:t>示例数据｜2026 Q3 产品复盘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0">
                <a:solidFill>
                  <a:srgbClr val="677489"/>
                </a:solidFill>
                <a:latin typeface="Aptos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00" b="1">
                <a:solidFill>
                  <a:srgbClr val="3169C4"/>
                </a:solidFill>
                <a:latin typeface="Aptos"/>
              </a:rPr>
              <a:t>03 / 关键指标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69848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121F35"/>
                </a:solidFill>
                <a:latin typeface="Aptos"/>
              </a:rPr>
              <a:t>核心功能使用率：64%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3327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677489"/>
                </a:solidFill>
                <a:latin typeface="Aptos"/>
              </a:rPr>
              <a:t>关键路径更短，用户从“到达”走向“使用”。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74519"/>
            <a:ext cx="3749039" cy="3566160"/>
          </a:xfrm>
          <a:prstGeom prst="roundRect">
            <a:avLst>
              <a:gd name="adj" fmla="val 8000"/>
            </a:avLst>
          </a:prstGeom>
          <a:solidFill>
            <a:srgbClr val="121F35"/>
          </a:solidFill>
          <a:ln>
            <a:solidFill>
              <a:srgbClr val="12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286000"/>
            <a:ext cx="25603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B8CAE2"/>
                </a:solidFill>
                <a:latin typeface="Aptos"/>
              </a:rPr>
              <a:t>核心功能使用率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70048"/>
            <a:ext cx="2377440" cy="6858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64%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657600"/>
            <a:ext cx="2286000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1">
                <a:solidFill>
                  <a:srgbClr val="37ABC0"/>
                </a:solidFill>
                <a:latin typeface="Aptos"/>
              </a:rPr>
              <a:t>环比 +9 个百分点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315968"/>
            <a:ext cx="24688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B8CAE2"/>
                </a:solidFill>
                <a:latin typeface="Aptos"/>
              </a:rPr>
              <a:t>目标 60%｜超额 4 个百分点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874519"/>
            <a:ext cx="685800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2240280"/>
            <a:ext cx="1828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677489"/>
                </a:solidFill>
                <a:latin typeface="Aptos"/>
              </a:rPr>
              <a:t>使用率对比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907792"/>
            <a:ext cx="5029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121F35"/>
                </a:solidFill>
                <a:latin typeface="Aptos"/>
              </a:rPr>
              <a:t>Q2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2926080"/>
            <a:ext cx="182880" cy="292608"/>
          </a:xfrm>
          <a:prstGeom prst="rect">
            <a:avLst/>
          </a:prstGeom>
          <a:solidFill>
            <a:srgbClr val="E8EFF9"/>
          </a:solidFill>
          <a:ln>
            <a:solidFill>
              <a:srgbClr val="E8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06440" y="2926080"/>
            <a:ext cx="4023359" cy="292608"/>
          </a:xfrm>
          <a:prstGeom prst="rect">
            <a:avLst/>
          </a:prstGeom>
          <a:solidFill>
            <a:srgbClr val="C8D3E2"/>
          </a:solidFill>
          <a:ln>
            <a:solidFill>
              <a:srgbClr val="C8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27080" y="2907792"/>
            <a:ext cx="4572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300" b="1">
                <a:solidFill>
                  <a:srgbClr val="121F35"/>
                </a:solidFill>
                <a:latin typeface="Aptos"/>
              </a:rPr>
              <a:t>55%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959352"/>
            <a:ext cx="5029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121F35"/>
                </a:solidFill>
                <a:latin typeface="Aptos"/>
              </a:rPr>
              <a:t>Q3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6440" y="3977639"/>
            <a:ext cx="182880" cy="292608"/>
          </a:xfrm>
          <a:prstGeom prst="rect">
            <a:avLst/>
          </a:prstGeom>
          <a:solidFill>
            <a:srgbClr val="E8EFF9"/>
          </a:solidFill>
          <a:ln>
            <a:solidFill>
              <a:srgbClr val="E8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06440" y="3977639"/>
            <a:ext cx="4681727" cy="292608"/>
          </a:xfrm>
          <a:prstGeom prst="rect">
            <a:avLst/>
          </a:prstGeom>
          <a:solidFill>
            <a:srgbClr val="3169C4"/>
          </a:solidFill>
          <a:ln>
            <a:solidFill>
              <a:srgbClr val="316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27080" y="3959352"/>
            <a:ext cx="4572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300" b="1">
                <a:solidFill>
                  <a:srgbClr val="121F35"/>
                </a:solidFill>
                <a:latin typeface="Aptos"/>
              </a:rPr>
              <a:t>64%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4956048"/>
            <a:ext cx="585216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1F2B3D"/>
                </a:solidFill>
                <a:latin typeface="Aptos"/>
              </a:rPr>
              <a:t>提升来自新手引导重构、核心入口前置与默认推荐优化。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547104"/>
            <a:ext cx="27432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677489"/>
                </a:solidFill>
                <a:latin typeface="Aptos"/>
              </a:rPr>
              <a:t>示例数据｜2026 Q3 产品复盘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0">
                <a:solidFill>
                  <a:srgbClr val="677489"/>
                </a:solidFill>
                <a:latin typeface="Aptos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00" b="1">
                <a:solidFill>
                  <a:srgbClr val="3169C4"/>
                </a:solidFill>
                <a:latin typeface="Aptos"/>
              </a:rPr>
              <a:t>04 / 关键指标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69848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121F35"/>
                </a:solidFill>
                <a:latin typeface="Aptos"/>
              </a:rPr>
              <a:t>付费转化率：6.8%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3327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677489"/>
                </a:solidFill>
                <a:latin typeface="Aptos"/>
              </a:rPr>
              <a:t>转化改善已出现，但仍有明显的中段流失。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74519"/>
            <a:ext cx="297180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1828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677489"/>
                </a:solidFill>
                <a:latin typeface="Aptos"/>
              </a:rPr>
              <a:t>付费转化率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33472"/>
            <a:ext cx="210312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3400" b="1">
                <a:solidFill>
                  <a:srgbClr val="121F35"/>
                </a:solidFill>
                <a:latin typeface="Aptos"/>
              </a:rPr>
              <a:t>6.8%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210312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>
                <a:solidFill>
                  <a:srgbClr val="31956B"/>
                </a:solidFill>
                <a:latin typeface="Aptos"/>
              </a:rPr>
              <a:t>环比 +1.2 个百分点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219456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677489"/>
                </a:solidFill>
                <a:latin typeface="Aptos"/>
              </a:rPr>
              <a:t>Q2：5.6%  →  Q3：6.8%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1874519"/>
            <a:ext cx="758952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212848"/>
            <a:ext cx="201168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677489"/>
                </a:solidFill>
                <a:latin typeface="Aptos"/>
              </a:rPr>
              <a:t>转化漏斗（示意）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2743200"/>
            <a:ext cx="868680" cy="21031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0">
                <a:solidFill>
                  <a:srgbClr val="1F2B3D"/>
                </a:solidFill>
                <a:latin typeface="Aptos"/>
              </a:rPr>
              <a:t>访问产品页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9240" y="2743200"/>
            <a:ext cx="5303520" cy="274320"/>
          </a:xfrm>
          <a:prstGeom prst="roundRect">
            <a:avLst>
              <a:gd name="adj" fmla="val 8000"/>
            </a:avLst>
          </a:prstGeom>
          <a:solidFill>
            <a:srgbClr val="3169C4"/>
          </a:solidFill>
          <a:ln>
            <a:solidFill>
              <a:srgbClr val="316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0" y="2752344"/>
            <a:ext cx="50292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121F35"/>
                </a:solidFill>
                <a:latin typeface="Aptos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3310128"/>
            <a:ext cx="868680" cy="21031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0">
                <a:solidFill>
                  <a:srgbClr val="1F2B3D"/>
                </a:solidFill>
                <a:latin typeface="Aptos"/>
              </a:rPr>
              <a:t>完成核心动作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49240" y="3310128"/>
            <a:ext cx="3200400" cy="274320"/>
          </a:xfrm>
          <a:prstGeom prst="roundRect">
            <a:avLst>
              <a:gd name="adj" fmla="val 8000"/>
            </a:avLst>
          </a:prstGeom>
          <a:solidFill>
            <a:srgbClr val="37ABC0"/>
          </a:solidFill>
          <a:ln>
            <a:solidFill>
              <a:srgbClr val="37A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3319272"/>
            <a:ext cx="50292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121F35"/>
                </a:solidFill>
                <a:latin typeface="Aptos"/>
              </a:rPr>
              <a:t>42%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3877056"/>
            <a:ext cx="868680" cy="21031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0">
                <a:solidFill>
                  <a:srgbClr val="1F2B3D"/>
                </a:solidFill>
                <a:latin typeface="Aptos"/>
              </a:rPr>
              <a:t>查看权益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49240" y="3877056"/>
            <a:ext cx="1828800" cy="274320"/>
          </a:xfrm>
          <a:prstGeom prst="roundRect">
            <a:avLst>
              <a:gd name="adj" fmla="val 8000"/>
            </a:avLst>
          </a:prstGeom>
          <a:solidFill>
            <a:srgbClr val="EC8B3E"/>
          </a:solidFill>
          <a:ln>
            <a:solidFill>
              <a:srgbClr val="EC8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3886200"/>
            <a:ext cx="50292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121F35"/>
                </a:solidFill>
                <a:latin typeface="Aptos"/>
              </a:rPr>
              <a:t>18%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4443983"/>
            <a:ext cx="868680" cy="21031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0">
                <a:solidFill>
                  <a:srgbClr val="1F2B3D"/>
                </a:solidFill>
                <a:latin typeface="Aptos"/>
              </a:rPr>
              <a:t>完成付费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49240" y="4443983"/>
            <a:ext cx="868680" cy="274320"/>
          </a:xfrm>
          <a:prstGeom prst="roundRect">
            <a:avLst>
              <a:gd name="adj" fmla="val 8000"/>
            </a:avLst>
          </a:prstGeom>
          <a:solidFill>
            <a:srgbClr val="31956B"/>
          </a:solidFill>
          <a:ln>
            <a:solidFill>
              <a:srgbClr val="319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453127"/>
            <a:ext cx="50292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121F35"/>
                </a:solidFill>
                <a:latin typeface="Aptos"/>
              </a:rPr>
              <a:t>6.8%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2" y="5047488"/>
            <a:ext cx="52120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1F2B3D"/>
                </a:solidFill>
                <a:latin typeface="Aptos"/>
              </a:rPr>
              <a:t>下一步：优化权益解释与结算前信任建设。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6547104"/>
            <a:ext cx="27432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677489"/>
                </a:solidFill>
                <a:latin typeface="Aptos"/>
              </a:rPr>
              <a:t>示例数据｜2026 Q3 产品复盘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0">
                <a:solidFill>
                  <a:srgbClr val="677489"/>
                </a:solidFill>
                <a:latin typeface="Aptos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00" b="1">
                <a:solidFill>
                  <a:srgbClr val="3169C4"/>
                </a:solidFill>
                <a:latin typeface="Aptos"/>
              </a:rPr>
              <a:t>05 / 做成了的事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69848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121F35"/>
                </a:solidFill>
                <a:latin typeface="Aptos"/>
              </a:rPr>
              <a:t>核心体验升级：让用户更快到达价值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3327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677489"/>
                </a:solidFill>
                <a:latin typeface="Aptos"/>
              </a:rPr>
              <a:t>围绕首周激活，完成关键路径的三处减法。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74519"/>
            <a:ext cx="1097280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240280"/>
            <a:ext cx="201168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677489"/>
                </a:solidFill>
                <a:latin typeface="Aptos"/>
              </a:rPr>
              <a:t>关键路径变化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816352"/>
            <a:ext cx="2788920" cy="1874519"/>
          </a:xfrm>
          <a:prstGeom prst="roundRect">
            <a:avLst>
              <a:gd name="adj" fmla="val 8000"/>
            </a:avLst>
          </a:prstGeom>
          <a:solidFill>
            <a:srgbClr val="E8EFF9"/>
          </a:solidFill>
          <a:ln>
            <a:solidFill>
              <a:srgbClr val="E8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3017520"/>
            <a:ext cx="41148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3169C4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383280"/>
            <a:ext cx="22860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入口前置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3822191"/>
            <a:ext cx="2331720" cy="38404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1F2B3D"/>
                </a:solidFill>
                <a:latin typeface="Aptos"/>
              </a:rPr>
              <a:t>从 3 层入口缩短至 2 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4407408"/>
            <a:ext cx="233172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31956B"/>
                </a:solidFill>
                <a:latin typeface="Aptos"/>
              </a:rPr>
              <a:t>首个核心动作更早发生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7912" y="3611880"/>
            <a:ext cx="256032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200" b="1">
                <a:solidFill>
                  <a:srgbClr val="3169C4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816352"/>
            <a:ext cx="2788920" cy="1874519"/>
          </a:xfrm>
          <a:prstGeom prst="roundRect">
            <a:avLst>
              <a:gd name="adj" fmla="val 8000"/>
            </a:avLst>
          </a:prstGeom>
          <a:solidFill>
            <a:srgbClr val="E8EFF9"/>
          </a:solidFill>
          <a:ln>
            <a:solidFill>
              <a:srgbClr val="E8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3017520"/>
            <a:ext cx="41148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3169C4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3383280"/>
            <a:ext cx="22860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引导重构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3822191"/>
            <a:ext cx="2331720" cy="38404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1F2B3D"/>
                </a:solidFill>
                <a:latin typeface="Aptos"/>
              </a:rPr>
              <a:t>从功能介绍改为任务驱动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4407408"/>
            <a:ext cx="233172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31956B"/>
                </a:solidFill>
                <a:latin typeface="Aptos"/>
              </a:rPr>
              <a:t>首周激活率 +11pp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611880"/>
            <a:ext cx="256032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200" b="1">
                <a:solidFill>
                  <a:srgbClr val="3169C4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63256" y="2816352"/>
            <a:ext cx="2788920" cy="1874519"/>
          </a:xfrm>
          <a:prstGeom prst="roundRect">
            <a:avLst>
              <a:gd name="adj" fmla="val 8000"/>
            </a:avLst>
          </a:prstGeom>
          <a:solidFill>
            <a:srgbClr val="E8EFF9"/>
          </a:solidFill>
          <a:ln>
            <a:solidFill>
              <a:srgbClr val="E8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64424" y="3017520"/>
            <a:ext cx="41148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3169C4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4424" y="3383280"/>
            <a:ext cx="22860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默认优化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64424" y="3822191"/>
            <a:ext cx="2331720" cy="38404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1F2B3D"/>
                </a:solidFill>
                <a:latin typeface="Aptos"/>
              </a:rPr>
              <a:t>按场景给出首选配置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64424" y="4407408"/>
            <a:ext cx="233172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31956B"/>
                </a:solidFill>
                <a:latin typeface="Aptos"/>
              </a:rPr>
              <a:t>新用户决策成本下降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5047488"/>
            <a:ext cx="987552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1F2B3D"/>
                </a:solidFill>
                <a:latin typeface="Aptos"/>
              </a:rPr>
              <a:t>结果：体验改造不再追求“功能更多”，而是追求“用户更快完成关键动作”。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6547104"/>
            <a:ext cx="27432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677489"/>
                </a:solidFill>
                <a:latin typeface="Aptos"/>
              </a:rPr>
              <a:t>示例数据｜2026 Q3 产品复盘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0">
                <a:solidFill>
                  <a:srgbClr val="677489"/>
                </a:solidFill>
                <a:latin typeface="Aptos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00" b="1">
                <a:solidFill>
                  <a:srgbClr val="3169C4"/>
                </a:solidFill>
                <a:latin typeface="Aptos"/>
              </a:rPr>
              <a:t>06 / 做成了的事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69848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121F35"/>
                </a:solidFill>
                <a:latin typeface="Aptos"/>
              </a:rPr>
              <a:t>增长与运营机制：形成可复用打法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3327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677489"/>
                </a:solidFill>
                <a:latin typeface="Aptos"/>
              </a:rPr>
              <a:t>实验、渠道与复盘开始进入同一套节奏。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74519"/>
            <a:ext cx="5074920" cy="3566160"/>
          </a:xfrm>
          <a:prstGeom prst="roundRect">
            <a:avLst>
              <a:gd name="adj" fmla="val 8000"/>
            </a:avLst>
          </a:prstGeom>
          <a:solidFill>
            <a:srgbClr val="121F35"/>
          </a:solidFill>
          <a:ln>
            <a:solidFill>
              <a:srgbClr val="12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240280"/>
            <a:ext cx="1828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37ABC0"/>
                </a:solidFill>
                <a:latin typeface="Aptos"/>
              </a:rPr>
              <a:t>机制闭环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" y="278892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3169C4"/>
          </a:solidFill>
          <a:ln>
            <a:solidFill>
              <a:srgbClr val="316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907791"/>
            <a:ext cx="54864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816351"/>
            <a:ext cx="100584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实验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816351"/>
            <a:ext cx="242316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BECCE0"/>
                </a:solidFill>
                <a:latin typeface="Aptos"/>
              </a:rPr>
              <a:t>每两周 1 次重点实验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" y="3502152"/>
            <a:ext cx="548640" cy="548640"/>
          </a:xfrm>
          <a:prstGeom prst="roundRect">
            <a:avLst>
              <a:gd name="adj" fmla="val 8000"/>
            </a:avLst>
          </a:prstGeom>
          <a:solidFill>
            <a:srgbClr val="3169C4"/>
          </a:solidFill>
          <a:ln>
            <a:solidFill>
              <a:srgbClr val="316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621024"/>
            <a:ext cx="54864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529584"/>
            <a:ext cx="100584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协同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529584"/>
            <a:ext cx="242316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BECCE0"/>
                </a:solidFill>
                <a:latin typeface="Aptos"/>
              </a:rPr>
              <a:t>产品 × 运营 × 渠道共排期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4215383"/>
            <a:ext cx="548640" cy="548640"/>
          </a:xfrm>
          <a:prstGeom prst="roundRect">
            <a:avLst>
              <a:gd name="adj" fmla="val 8000"/>
            </a:avLst>
          </a:prstGeom>
          <a:solidFill>
            <a:srgbClr val="3169C4"/>
          </a:solidFill>
          <a:ln>
            <a:solidFill>
              <a:srgbClr val="316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334255"/>
            <a:ext cx="54864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242816"/>
            <a:ext cx="100584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复盘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242816"/>
            <a:ext cx="242316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BECCE0"/>
                </a:solidFill>
                <a:latin typeface="Aptos"/>
              </a:rPr>
              <a:t>上线后 7 / 30 天看结果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1874519"/>
            <a:ext cx="5468112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240280"/>
            <a:ext cx="13716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677489"/>
                </a:solidFill>
                <a:latin typeface="Aptos"/>
              </a:rPr>
              <a:t>Q3 产出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788920"/>
            <a:ext cx="10972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>
                <a:solidFill>
                  <a:srgbClr val="3169C4"/>
                </a:solidFill>
                <a:latin typeface="Aptos"/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852927"/>
            <a:ext cx="22860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121F35"/>
                </a:solidFill>
                <a:latin typeface="Aptos"/>
              </a:rPr>
              <a:t>个实验上线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46520" y="3355848"/>
            <a:ext cx="4663440" cy="0"/>
          </a:xfrm>
          <a:prstGeom prst="line">
            <a:avLst/>
          </a:prstGeom>
          <a:ln w="1016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46520" y="3566160"/>
            <a:ext cx="10972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>
                <a:solidFill>
                  <a:srgbClr val="37ABC0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630168"/>
            <a:ext cx="22860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121F35"/>
                </a:solidFill>
                <a:latin typeface="Aptos"/>
              </a:rPr>
              <a:t>个渠道打法沉淀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46520" y="4133087"/>
            <a:ext cx="4663440" cy="0"/>
          </a:xfrm>
          <a:prstGeom prst="line">
            <a:avLst/>
          </a:prstGeom>
          <a:ln w="1016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46520" y="4343400"/>
            <a:ext cx="10972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>
                <a:solidFill>
                  <a:srgbClr val="31956B"/>
                </a:solidFill>
                <a:latin typeface="Aptos"/>
              </a:rPr>
              <a:t>2.3x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4407408"/>
            <a:ext cx="22860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121F35"/>
                </a:solidFill>
                <a:latin typeface="Aptos"/>
              </a:rPr>
              <a:t>优胜方案复用率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46520" y="4910328"/>
            <a:ext cx="4663440" cy="0"/>
          </a:xfrm>
          <a:prstGeom prst="line">
            <a:avLst/>
          </a:prstGeom>
          <a:ln w="1016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46520" y="4983480"/>
            <a:ext cx="42976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1F2B3D"/>
                </a:solidFill>
                <a:latin typeface="Aptos"/>
              </a:rPr>
              <a:t>结果：从“单点增长”走向“可复制增长”。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6547104"/>
            <a:ext cx="27432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677489"/>
                </a:solidFill>
                <a:latin typeface="Aptos"/>
              </a:rPr>
              <a:t>示例数据｜2026 Q3 产品复盘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0">
                <a:solidFill>
                  <a:srgbClr val="677489"/>
                </a:solidFill>
                <a:latin typeface="Aptos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00" b="1">
                <a:solidFill>
                  <a:srgbClr val="3169C4"/>
                </a:solidFill>
                <a:latin typeface="Aptos"/>
              </a:rPr>
              <a:t>07 / 没做成的事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69848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121F35"/>
                </a:solidFill>
                <a:latin typeface="Aptos"/>
              </a:rPr>
              <a:t>部分高价值需求延期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3327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677489"/>
                </a:solidFill>
                <a:latin typeface="Aptos"/>
              </a:rPr>
              <a:t>问题不在执行意愿，而在优先级与依赖管理没有前置。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74519"/>
            <a:ext cx="507492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240280"/>
            <a:ext cx="16459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677489"/>
                </a:solidFill>
                <a:latin typeface="Aptos"/>
              </a:rPr>
              <a:t>发生了什么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743200"/>
            <a:ext cx="12801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3400" b="1">
                <a:solidFill>
                  <a:srgbClr val="CA5858"/>
                </a:solidFill>
                <a:latin typeface="Aptos"/>
              </a:rPr>
              <a:t>6 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852928"/>
            <a:ext cx="25603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1">
                <a:solidFill>
                  <a:srgbClr val="121F35"/>
                </a:solidFill>
                <a:latin typeface="Aptos"/>
              </a:rPr>
              <a:t>高价值需求中有 2 项延期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858768"/>
            <a:ext cx="406908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1F2B3D"/>
                </a:solidFill>
                <a:latin typeface="Aptos"/>
              </a:rPr>
              <a:t>影响：机会窗口后移，销售与运营承诺难以同步。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874519"/>
            <a:ext cx="5468112" cy="3566160"/>
          </a:xfrm>
          <a:prstGeom prst="roundRect">
            <a:avLst>
              <a:gd name="adj" fmla="val 8000"/>
            </a:avLst>
          </a:prstGeom>
          <a:solidFill>
            <a:srgbClr val="E8EFF9"/>
          </a:solidFill>
          <a:ln>
            <a:solidFill>
              <a:srgbClr val="E8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240280"/>
            <a:ext cx="13716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677489"/>
                </a:solidFill>
                <a:latin typeface="Aptos"/>
              </a:rPr>
              <a:t>根因拆解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3952" y="2880360"/>
            <a:ext cx="109728" cy="109728"/>
          </a:xfrm>
          <a:prstGeom prst="roundRect">
            <a:avLst>
              <a:gd name="adj" fmla="val 8000"/>
            </a:avLst>
          </a:prstGeom>
          <a:solidFill>
            <a:srgbClr val="3169C4"/>
          </a:solidFill>
          <a:ln>
            <a:solidFill>
              <a:srgbClr val="316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2552" y="2788920"/>
            <a:ext cx="425196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1F2B3D"/>
                </a:solidFill>
                <a:latin typeface="Aptos"/>
              </a:rPr>
              <a:t>需求优先级频繁调整，缺少冻结窗口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3952" y="3465576"/>
            <a:ext cx="109728" cy="109728"/>
          </a:xfrm>
          <a:prstGeom prst="roundRect">
            <a:avLst>
              <a:gd name="adj" fmla="val 8000"/>
            </a:avLst>
          </a:prstGeom>
          <a:solidFill>
            <a:srgbClr val="3169C4"/>
          </a:solidFill>
          <a:ln>
            <a:solidFill>
              <a:srgbClr val="316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374136"/>
            <a:ext cx="425196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1F2B3D"/>
                </a:solidFill>
                <a:latin typeface="Aptos"/>
              </a:rPr>
              <a:t>跨团队依赖未前置识别，排期过于乐观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73952" y="4050791"/>
            <a:ext cx="109728" cy="109728"/>
          </a:xfrm>
          <a:prstGeom prst="roundRect">
            <a:avLst>
              <a:gd name="adj" fmla="val 8000"/>
            </a:avLst>
          </a:prstGeom>
          <a:solidFill>
            <a:srgbClr val="3169C4"/>
          </a:solidFill>
          <a:ln>
            <a:solidFill>
              <a:srgbClr val="316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2552" y="3959352"/>
            <a:ext cx="425196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1F2B3D"/>
                </a:solidFill>
                <a:latin typeface="Aptos"/>
              </a:rPr>
              <a:t>缺少“延期成本”视角的决策材料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892040"/>
            <a:ext cx="438912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EC8B3E"/>
                </a:solidFill>
                <a:latin typeface="Aptos"/>
              </a:rPr>
              <a:t>教训：排期不是承诺，依赖透明才是。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547104"/>
            <a:ext cx="27432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677489"/>
                </a:solidFill>
                <a:latin typeface="Aptos"/>
              </a:rPr>
              <a:t>示例数据｜2026 Q3 产品复盘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0">
                <a:solidFill>
                  <a:srgbClr val="677489"/>
                </a:solidFill>
                <a:latin typeface="Aptos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00" b="1">
                <a:solidFill>
                  <a:srgbClr val="3169C4"/>
                </a:solidFill>
                <a:latin typeface="Aptos"/>
              </a:rPr>
              <a:t>08 / 没做成的事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69848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121F35"/>
                </a:solidFill>
                <a:latin typeface="Aptos"/>
              </a:rPr>
              <a:t>留存改善低于预期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3327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677489"/>
                </a:solidFill>
                <a:latin typeface="Aptos"/>
              </a:rPr>
              <a:t>我们提升了触达，却没有持续经营用户回来的理由。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74519"/>
            <a:ext cx="1097280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240280"/>
            <a:ext cx="16459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677489"/>
                </a:solidFill>
                <a:latin typeface="Aptos"/>
              </a:rPr>
              <a:t>预期 vs 实际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788920"/>
            <a:ext cx="11887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121F35"/>
                </a:solidFill>
                <a:latin typeface="Aptos"/>
              </a:rPr>
              <a:t>次月留存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2816352"/>
            <a:ext cx="4754880" cy="329184"/>
          </a:xfrm>
          <a:prstGeom prst="rect">
            <a:avLst/>
          </a:prstGeom>
          <a:solidFill>
            <a:srgbClr val="E8EFF9"/>
          </a:solidFill>
          <a:ln>
            <a:solidFill>
              <a:srgbClr val="E8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0" y="2816352"/>
            <a:ext cx="3419856" cy="329184"/>
          </a:xfrm>
          <a:prstGeom prst="rect">
            <a:avLst/>
          </a:prstGeom>
          <a:solidFill>
            <a:srgbClr val="3169C4"/>
          </a:solidFill>
          <a:ln>
            <a:solidFill>
              <a:srgbClr val="316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2816352"/>
            <a:ext cx="82296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121F35"/>
                </a:solidFill>
                <a:latin typeface="Aptos"/>
              </a:rPr>
              <a:t>目标 72%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3657600"/>
            <a:ext cx="82296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CA5858"/>
                </a:solidFill>
                <a:latin typeface="Aptos"/>
              </a:rPr>
              <a:t>实际 68%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3657600"/>
            <a:ext cx="4754880" cy="329184"/>
          </a:xfrm>
          <a:prstGeom prst="rect">
            <a:avLst/>
          </a:prstGeom>
          <a:solidFill>
            <a:srgbClr val="E8EFF9"/>
          </a:solidFill>
          <a:ln>
            <a:solidFill>
              <a:srgbClr val="E8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0" y="3657600"/>
            <a:ext cx="3236976" cy="329184"/>
          </a:xfrm>
          <a:prstGeom prst="rect">
            <a:avLst/>
          </a:prstGeom>
          <a:solidFill>
            <a:srgbClr val="CA5858"/>
          </a:solidFill>
          <a:ln>
            <a:solidFill>
              <a:srgbClr val="CA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8092440" y="2423160"/>
            <a:ext cx="0" cy="2560320"/>
          </a:xfrm>
          <a:prstGeom prst="line">
            <a:avLst/>
          </a:prstGeom>
          <a:ln w="1270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58200" y="2240280"/>
            <a:ext cx="13716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677489"/>
                </a:solidFill>
                <a:latin typeface="Aptos"/>
              </a:rPr>
              <a:t>两条根因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2880360"/>
            <a:ext cx="109728" cy="109728"/>
          </a:xfrm>
          <a:prstGeom prst="roundRect">
            <a:avLst>
              <a:gd name="adj" fmla="val 8000"/>
            </a:avLst>
          </a:prstGeom>
          <a:solidFill>
            <a:srgbClr val="3169C4"/>
          </a:solidFill>
          <a:ln>
            <a:solidFill>
              <a:srgbClr val="316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2788920"/>
            <a:ext cx="25146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1F2B3D"/>
                </a:solidFill>
                <a:latin typeface="Aptos"/>
              </a:rPr>
              <a:t>用户分层不足：同一套触达覆盖不同阶段用户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3703320"/>
            <a:ext cx="109728" cy="109728"/>
          </a:xfrm>
          <a:prstGeom prst="roundRect">
            <a:avLst>
              <a:gd name="adj" fmla="val 8000"/>
            </a:avLst>
          </a:prstGeom>
          <a:solidFill>
            <a:srgbClr val="3169C4"/>
          </a:solidFill>
          <a:ln>
            <a:solidFill>
              <a:srgbClr val="316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3611879"/>
            <a:ext cx="25146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1F2B3D"/>
                </a:solidFill>
                <a:latin typeface="Aptos"/>
              </a:rPr>
              <a:t>运营闭环不足：触达后没有形成持续任务与反馈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6547104"/>
            <a:ext cx="27432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677489"/>
                </a:solidFill>
                <a:latin typeface="Aptos"/>
              </a:rPr>
              <a:t>示例数据｜2026 Q3 产品复盘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0">
                <a:solidFill>
                  <a:srgbClr val="677489"/>
                </a:solidFill>
                <a:latin typeface="Aptos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00" b="1">
                <a:solidFill>
                  <a:srgbClr val="3169C4"/>
                </a:solidFill>
                <a:latin typeface="Aptos"/>
              </a:rPr>
              <a:t>09 / 下季度计划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69848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121F35"/>
                </a:solidFill>
                <a:latin typeface="Aptos"/>
              </a:rPr>
              <a:t>Q4 三件事：聚焦、分层、提速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3327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677489"/>
                </a:solidFill>
                <a:latin typeface="Aptos"/>
              </a:rPr>
              <a:t>把增长质量和交付确定性，变成下一阶段的竞争力。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901952"/>
            <a:ext cx="33375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901952"/>
            <a:ext cx="3337560" cy="109728"/>
          </a:xfrm>
          <a:prstGeom prst="rect">
            <a:avLst/>
          </a:prstGeom>
          <a:solidFill>
            <a:srgbClr val="3169C4"/>
          </a:solidFill>
          <a:ln>
            <a:solidFill>
              <a:srgbClr val="316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286000"/>
            <a:ext cx="41148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3169C4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267712"/>
            <a:ext cx="640080" cy="21031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000" b="1">
                <a:solidFill>
                  <a:srgbClr val="3169C4"/>
                </a:solidFill>
                <a:latin typeface="Aptos"/>
              </a:rPr>
              <a:t>聚焦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816352"/>
            <a:ext cx="269748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1">
                <a:solidFill>
                  <a:srgbClr val="121F35"/>
                </a:solidFill>
                <a:latin typeface="Aptos"/>
              </a:rPr>
              <a:t>聚焦高价值场景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657600"/>
            <a:ext cx="269748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1F2B3D"/>
                </a:solidFill>
                <a:latin typeface="Aptos"/>
              </a:rPr>
              <a:t>目标：把资源投向最能带来留存与收入的 2 个场景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41832" y="4498848"/>
            <a:ext cx="2651760" cy="0"/>
          </a:xfrm>
          <a:prstGeom prst="line">
            <a:avLst/>
          </a:prstGeom>
          <a:ln w="1016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41832" y="4736592"/>
            <a:ext cx="269748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3169C4"/>
                </a:solidFill>
                <a:latin typeface="Aptos"/>
              </a:rPr>
              <a:t>衡量：场景渗透率 +15%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901952"/>
            <a:ext cx="33375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1901952"/>
            <a:ext cx="3337560" cy="109728"/>
          </a:xfrm>
          <a:prstGeom prst="rect">
            <a:avLst/>
          </a:prstGeom>
          <a:solidFill>
            <a:srgbClr val="37ABC0"/>
          </a:solidFill>
          <a:ln>
            <a:solidFill>
              <a:srgbClr val="37A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19" y="2286000"/>
            <a:ext cx="41148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37ABC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19" y="2267712"/>
            <a:ext cx="640080" cy="21031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000" b="1">
                <a:solidFill>
                  <a:srgbClr val="37ABC0"/>
                </a:solidFill>
                <a:latin typeface="Aptos"/>
              </a:rPr>
              <a:t>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19" y="2816352"/>
            <a:ext cx="269748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1">
                <a:solidFill>
                  <a:srgbClr val="121F35"/>
                </a:solidFill>
                <a:latin typeface="Aptos"/>
              </a:rPr>
              <a:t>完善用户分层与留存机制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19" y="3657600"/>
            <a:ext cx="269748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1F2B3D"/>
                </a:solidFill>
                <a:latin typeface="Aptos"/>
              </a:rPr>
              <a:t>目标：建立新客 / 活跃 / 沉默用户差异化运营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17719" y="4498848"/>
            <a:ext cx="2651760" cy="0"/>
          </a:xfrm>
          <a:prstGeom prst="line">
            <a:avLst/>
          </a:prstGeom>
          <a:ln w="1016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17719" y="4736592"/>
            <a:ext cx="269748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37ABC0"/>
                </a:solidFill>
                <a:latin typeface="Aptos"/>
              </a:rPr>
              <a:t>衡量：次月留存 ≥ 72%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7" y="1901952"/>
            <a:ext cx="33375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7" y="1901952"/>
            <a:ext cx="3337560" cy="109728"/>
          </a:xfrm>
          <a:prstGeom prst="rect">
            <a:avLst/>
          </a:prstGeom>
          <a:solidFill>
            <a:srgbClr val="31956B"/>
          </a:solidFill>
          <a:ln>
            <a:solidFill>
              <a:srgbClr val="319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7" y="2286000"/>
            <a:ext cx="41148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31956B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51007" y="2267712"/>
            <a:ext cx="640080" cy="21031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000" b="1">
                <a:solidFill>
                  <a:srgbClr val="31956B"/>
                </a:solidFill>
                <a:latin typeface="Aptos"/>
              </a:rPr>
              <a:t>提速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7" y="2816352"/>
            <a:ext cx="269748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1">
                <a:solidFill>
                  <a:srgbClr val="121F35"/>
                </a:solidFill>
                <a:latin typeface="Aptos"/>
              </a:rPr>
              <a:t>建立季度交付与复盘节奏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7" y="3657600"/>
            <a:ext cx="269748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1F2B3D"/>
                </a:solidFill>
                <a:latin typeface="Aptos"/>
              </a:rPr>
              <a:t>目标：依赖前置、风险可视、复盘闭环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93607" y="4498848"/>
            <a:ext cx="2651760" cy="0"/>
          </a:xfrm>
          <a:prstGeom prst="line">
            <a:avLst/>
          </a:prstGeom>
          <a:ln w="1016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93607" y="4736592"/>
            <a:ext cx="269748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31956B"/>
                </a:solidFill>
                <a:latin typeface="Aptos"/>
              </a:rPr>
              <a:t>衡量：高价值需求按期交付 ≥ 90%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6547104"/>
            <a:ext cx="27432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677489"/>
                </a:solidFill>
                <a:latin typeface="Aptos"/>
              </a:rPr>
              <a:t>示例数据｜2026 Q3 产品复盘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0">
                <a:solidFill>
                  <a:srgbClr val="677489"/>
                </a:solidFill>
                <a:latin typeface="Apto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